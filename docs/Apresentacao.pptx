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7212B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CDF2D8"/>
          </a:solidFill>
        </a:fill>
      </a:tcStyle>
    </a:wholeTbl>
    <a:band2H>
      <a:tcTxStyle b="def" i="def"/>
      <a:tcStyle>
        <a:tcBdr/>
        <a:fill>
          <a:solidFill>
            <a:srgbClr val="E8F8EC"/>
          </a:solidFill>
        </a:fill>
      </a:tcStyle>
    </a:band2H>
    <a:firstCol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381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381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D7CFFF"/>
          </a:solidFill>
        </a:fill>
      </a:tcStyle>
    </a:wholeTbl>
    <a:band2H>
      <a:tcTxStyle b="def" i="def"/>
      <a:tcStyle>
        <a:tcBdr/>
        <a:fill>
          <a:solidFill>
            <a:srgbClr val="ECE9FF"/>
          </a:solidFill>
        </a:fill>
      </a:tcStyle>
    </a:band2H>
    <a:firstCol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381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381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CBD2F7"/>
          </a:solidFill>
        </a:fill>
      </a:tcStyle>
    </a:wholeTbl>
    <a:band2H>
      <a:tcTxStyle b="def" i="def"/>
      <a:tcStyle>
        <a:tcBdr/>
        <a:fill>
          <a:solidFill>
            <a:srgbClr val="E7EAFB"/>
          </a:solidFill>
        </a:fill>
      </a:tcStyle>
    </a:band2H>
    <a:firstCol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381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381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1E293B"/>
          </a:solidFill>
        </a:fill>
      </a:tcStyle>
    </a:band2H>
    <a:firstCol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7212B"/>
        </a:fontRef>
        <a:srgbClr val="1721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7212B"/>
              </a:solidFill>
              <a:prstDash val="solid"/>
              <a:round/>
            </a:ln>
          </a:top>
          <a:bottom>
            <a:ln w="254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E293B"/>
          </a:solidFill>
        </a:fill>
      </a:tcStyle>
    </a:lastRow>
    <a:fir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7212B"/>
              </a:solidFill>
              <a:prstDash val="solid"/>
              <a:round/>
            </a:ln>
          </a:top>
          <a:bottom>
            <a:ln w="254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CA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17212B"/>
          </a:solidFill>
        </a:fill>
      </a:tcStyle>
    </a:firstCol>
    <a:la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38100" cap="flat">
              <a:solidFill>
                <a:srgbClr val="1E293B"/>
              </a:solidFill>
              <a:prstDash val="solid"/>
              <a:round/>
            </a:ln>
          </a:top>
          <a:bottom>
            <a:ln w="127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17212B"/>
          </a:solidFill>
        </a:fill>
      </a:tcStyle>
    </a:lastRow>
    <a:firstRow>
      <a:tcTxStyle b="on" i="off">
        <a:fontRef idx="minor">
          <a:srgbClr val="1E293B"/>
        </a:fontRef>
        <a:srgbClr val="1E293B"/>
      </a:tcTxStyle>
      <a:tcStyle>
        <a:tcBdr>
          <a:left>
            <a:ln w="12700" cap="flat">
              <a:solidFill>
                <a:srgbClr val="1E293B"/>
              </a:solidFill>
              <a:prstDash val="solid"/>
              <a:round/>
            </a:ln>
          </a:left>
          <a:right>
            <a:ln w="12700" cap="flat">
              <a:solidFill>
                <a:srgbClr val="1E293B"/>
              </a:solidFill>
              <a:prstDash val="solid"/>
              <a:round/>
            </a:ln>
          </a:right>
          <a:top>
            <a:ln w="12700" cap="flat">
              <a:solidFill>
                <a:srgbClr val="1E293B"/>
              </a:solidFill>
              <a:prstDash val="solid"/>
              <a:round/>
            </a:ln>
          </a:top>
          <a:bottom>
            <a:ln w="38100" cap="flat">
              <a:solidFill>
                <a:srgbClr val="1E293B"/>
              </a:solidFill>
              <a:prstDash val="solid"/>
              <a:round/>
            </a:ln>
          </a:bottom>
          <a:insideH>
            <a:ln w="12700" cap="flat">
              <a:solidFill>
                <a:srgbClr val="1E293B"/>
              </a:solidFill>
              <a:prstDash val="solid"/>
              <a:round/>
            </a:ln>
          </a:insideH>
          <a:insideV>
            <a:ln w="12700" cap="flat">
              <a:solidFill>
                <a:srgbClr val="1E293B"/>
              </a:solidFill>
              <a:prstDash val="solid"/>
              <a:round/>
            </a:ln>
          </a:insideV>
        </a:tcBdr>
        <a:fill>
          <a:solidFill>
            <a:srgbClr val="17212B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7212B"/>
              </a:solidFill>
              <a:prstDash val="solid"/>
              <a:round/>
            </a:ln>
          </a:left>
          <a:right>
            <a:ln w="12700" cap="flat">
              <a:solidFill>
                <a:srgbClr val="17212B"/>
              </a:solidFill>
              <a:prstDash val="solid"/>
              <a:round/>
            </a:ln>
          </a:right>
          <a:top>
            <a:ln w="12700" cap="flat">
              <a:solidFill>
                <a:srgbClr val="17212B"/>
              </a:solidFill>
              <a:prstDash val="solid"/>
              <a:round/>
            </a:ln>
          </a:top>
          <a:bottom>
            <a:ln w="127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solidFill>
                <a:srgbClr val="17212B"/>
              </a:solidFill>
              <a:prstDash val="solid"/>
              <a:round/>
            </a:ln>
          </a:insideH>
          <a:insideV>
            <a:ln w="12700" cap="flat">
              <a:solidFill>
                <a:srgbClr val="17212B"/>
              </a:solidFill>
              <a:prstDash val="solid"/>
              <a:round/>
            </a:ln>
          </a:insideV>
        </a:tcBdr>
        <a:fill>
          <a:solidFill>
            <a:srgbClr val="17212B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7212B"/>
              </a:solidFill>
              <a:prstDash val="solid"/>
              <a:round/>
            </a:ln>
          </a:left>
          <a:right>
            <a:ln w="12700" cap="flat">
              <a:solidFill>
                <a:srgbClr val="17212B"/>
              </a:solidFill>
              <a:prstDash val="solid"/>
              <a:round/>
            </a:ln>
          </a:right>
          <a:top>
            <a:ln w="12700" cap="flat">
              <a:solidFill>
                <a:srgbClr val="17212B"/>
              </a:solidFill>
              <a:prstDash val="solid"/>
              <a:round/>
            </a:ln>
          </a:top>
          <a:bottom>
            <a:ln w="127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solidFill>
                <a:srgbClr val="17212B"/>
              </a:solidFill>
              <a:prstDash val="solid"/>
              <a:round/>
            </a:ln>
          </a:insideH>
          <a:insideV>
            <a:ln w="12700" cap="flat">
              <a:solidFill>
                <a:srgbClr val="17212B"/>
              </a:solidFill>
              <a:prstDash val="solid"/>
              <a:round/>
            </a:ln>
          </a:insideV>
        </a:tcBdr>
        <a:fill>
          <a:solidFill>
            <a:srgbClr val="17212B">
              <a:alpha val="20000"/>
            </a:srgbClr>
          </a:solidFill>
        </a:fill>
      </a:tcStyle>
    </a:firstCol>
    <a:lastRow>
      <a:tcTxStyle b="on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7212B"/>
              </a:solidFill>
              <a:prstDash val="solid"/>
              <a:round/>
            </a:ln>
          </a:left>
          <a:right>
            <a:ln w="12700" cap="flat">
              <a:solidFill>
                <a:srgbClr val="17212B"/>
              </a:solidFill>
              <a:prstDash val="solid"/>
              <a:round/>
            </a:ln>
          </a:right>
          <a:top>
            <a:ln w="50800" cap="flat">
              <a:solidFill>
                <a:srgbClr val="17212B"/>
              </a:solidFill>
              <a:prstDash val="solid"/>
              <a:round/>
            </a:ln>
          </a:top>
          <a:bottom>
            <a:ln w="127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solidFill>
                <a:srgbClr val="17212B"/>
              </a:solidFill>
              <a:prstDash val="solid"/>
              <a:round/>
            </a:ln>
          </a:insideH>
          <a:insideV>
            <a:ln w="12700" cap="flat">
              <a:solidFill>
                <a:srgbClr val="17212B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17212B"/>
        </a:fontRef>
        <a:srgbClr val="17212B"/>
      </a:tcTxStyle>
      <a:tcStyle>
        <a:tcBdr>
          <a:left>
            <a:ln w="12700" cap="flat">
              <a:solidFill>
                <a:srgbClr val="17212B"/>
              </a:solidFill>
              <a:prstDash val="solid"/>
              <a:round/>
            </a:ln>
          </a:left>
          <a:right>
            <a:ln w="12700" cap="flat">
              <a:solidFill>
                <a:srgbClr val="17212B"/>
              </a:solidFill>
              <a:prstDash val="solid"/>
              <a:round/>
            </a:ln>
          </a:right>
          <a:top>
            <a:ln w="12700" cap="flat">
              <a:solidFill>
                <a:srgbClr val="17212B"/>
              </a:solidFill>
              <a:prstDash val="solid"/>
              <a:round/>
            </a:ln>
          </a:top>
          <a:bottom>
            <a:ln w="25400" cap="flat">
              <a:solidFill>
                <a:srgbClr val="17212B"/>
              </a:solidFill>
              <a:prstDash val="solid"/>
              <a:round/>
            </a:ln>
          </a:bottom>
          <a:insideH>
            <a:ln w="12700" cap="flat">
              <a:solidFill>
                <a:srgbClr val="17212B"/>
              </a:solidFill>
              <a:prstDash val="solid"/>
              <a:round/>
            </a:ln>
          </a:insideH>
          <a:insideV>
            <a:ln w="12700" cap="flat">
              <a:solidFill>
                <a:srgbClr val="17212B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Shape 9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17212B"/>
        </a:solidFill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úmero do diapositivo"/>
          <p:cNvSpPr txBox="1"/>
          <p:nvPr>
            <p:ph type="sldNum" sz="quarter" idx="2"/>
          </p:nvPr>
        </p:nvSpPr>
        <p:spPr>
          <a:xfrm>
            <a:off x="8504730" y="6356350"/>
            <a:ext cx="232874" cy="22850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ítulo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da apresentação"/>
          <p:cNvSpPr txBox="1"/>
          <p:nvPr>
            <p:ph type="title" hasCustomPrompt="1"/>
          </p:nvPr>
        </p:nvSpPr>
        <p:spPr>
          <a:xfrm>
            <a:off x="731519" y="1828800"/>
            <a:ext cx="10698482" cy="164592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/>
            <a:r>
              <a:t>Título da apresentação</a:t>
            </a:r>
          </a:p>
        </p:txBody>
      </p:sp>
      <p:sp>
        <p:nvSpPr>
          <p:cNvPr id="20" name="Nível um…"/>
          <p:cNvSpPr txBox="1"/>
          <p:nvPr>
            <p:ph type="body" sz="quarter" idx="1" hasCustomPrompt="1"/>
          </p:nvPr>
        </p:nvSpPr>
        <p:spPr>
          <a:xfrm>
            <a:off x="731519" y="3657600"/>
            <a:ext cx="10698482" cy="9144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>
                <a:solidFill>
                  <a:schemeClr val="accent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accent1"/>
                </a:solidFill>
              </a:defRPr>
            </a:lvl2pPr>
            <a:lvl3pPr>
              <a:spcBef>
                <a:spcPts val="400"/>
              </a:spcBef>
              <a:defRPr>
                <a:solidFill>
                  <a:schemeClr val="accent1"/>
                </a:solidFill>
              </a:defRPr>
            </a:lvl3pPr>
            <a:lvl4pPr>
              <a:spcBef>
                <a:spcPts val="40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400"/>
              </a:spcBef>
              <a:defRPr>
                <a:solidFill>
                  <a:schemeClr val="accent1"/>
                </a:solidFill>
              </a:defRPr>
            </a:lvl5pPr>
          </a:lstStyle>
          <a:p>
            <a:pPr/>
            <a:r>
              <a:t>Subtítulo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" name="Text 0"/>
          <p:cNvSpPr/>
          <p:nvPr>
            <p:ph type="body" sz="quarter" idx="21" hasCustomPrompt="1"/>
          </p:nvPr>
        </p:nvSpPr>
        <p:spPr>
          <a:xfrm>
            <a:off x="731519" y="5577840"/>
            <a:ext cx="10698482" cy="54864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Nomes</a:t>
            </a:r>
          </a:p>
        </p:txBody>
      </p:sp>
      <p:sp>
        <p:nvSpPr>
          <p:cNvPr id="22" name="Número do diapositivo"/>
          <p:cNvSpPr txBox="1"/>
          <p:nvPr>
            <p:ph type="sldNum" sz="quarter" idx="2"/>
          </p:nvPr>
        </p:nvSpPr>
        <p:spPr>
          <a:xfrm>
            <a:off x="8504730" y="6356350"/>
            <a:ext cx="232874" cy="22850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30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38" name="Nível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uas colunas de có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47" name="Shape 1"/>
          <p:cNvSpPr/>
          <p:nvPr/>
        </p:nvSpPr>
        <p:spPr>
          <a:xfrm>
            <a:off x="548640" y="1371600"/>
            <a:ext cx="5440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" name="Shape 2"/>
          <p:cNvSpPr/>
          <p:nvPr/>
        </p:nvSpPr>
        <p:spPr>
          <a:xfrm>
            <a:off x="6172200" y="1371600"/>
            <a:ext cx="5440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" name="Nível um…"/>
          <p:cNvSpPr txBox="1"/>
          <p:nvPr>
            <p:ph type="body" sz="quarter" idx="1" hasCustomPrompt="1"/>
          </p:nvPr>
        </p:nvSpPr>
        <p:spPr>
          <a:xfrm>
            <a:off x="777240" y="1508760"/>
            <a:ext cx="2743201" cy="36576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1pPr>
            <a:lvl2pPr marL="600075" indent="-142875"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2pPr>
            <a:lvl3pPr marL="1047750" indent="-133350"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3pPr>
            <a:lvl4pPr marL="1531619" indent="-160019"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4pPr>
            <a:lvl5pPr marL="1988820" indent="-160020"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5pPr>
          </a:lstStyle>
          <a:p>
            <a:pPr/>
            <a:r>
              <a:t>Linguagem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0" name="Text 3"/>
          <p:cNvSpPr/>
          <p:nvPr>
            <p:ph type="body" sz="quarter" idx="21" hasCustomPrompt="1"/>
          </p:nvPr>
        </p:nvSpPr>
        <p:spPr>
          <a:xfrm>
            <a:off x="777240" y="2011677"/>
            <a:ext cx="4983480" cy="3063246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// código</a:t>
            </a:r>
          </a:p>
        </p:txBody>
      </p:sp>
      <p:sp>
        <p:nvSpPr>
          <p:cNvPr id="51" name="Text 3"/>
          <p:cNvSpPr/>
          <p:nvPr>
            <p:ph type="body" sz="quarter" idx="22" hasCustomPrompt="1"/>
          </p:nvPr>
        </p:nvSpPr>
        <p:spPr>
          <a:xfrm>
            <a:off x="6400800" y="1508760"/>
            <a:ext cx="2743200" cy="36576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1pPr>
          </a:lstStyle>
          <a:p>
            <a:pPr/>
            <a:r>
              <a:t>Linguagem</a:t>
            </a:r>
          </a:p>
        </p:txBody>
      </p:sp>
      <p:sp>
        <p:nvSpPr>
          <p:cNvPr id="52" name="Text 3"/>
          <p:cNvSpPr/>
          <p:nvPr>
            <p:ph type="body" sz="quarter" idx="23" hasCustomPrompt="1"/>
          </p:nvPr>
        </p:nvSpPr>
        <p:spPr>
          <a:xfrm>
            <a:off x="6400800" y="2011677"/>
            <a:ext cx="4983480" cy="3063246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// código</a:t>
            </a:r>
          </a:p>
        </p:txBody>
      </p:sp>
      <p:sp>
        <p:nvSpPr>
          <p:cNvPr id="53" name="Text 3"/>
          <p:cNvSpPr/>
          <p:nvPr>
            <p:ph type="body" sz="quarter" idx="24" hasCustomPrompt="1"/>
          </p:nvPr>
        </p:nvSpPr>
        <p:spPr>
          <a:xfrm>
            <a:off x="548638" y="5394959"/>
            <a:ext cx="11064245" cy="77724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1600"/>
            </a:lvl1pPr>
          </a:lstStyle>
          <a:p>
            <a:pPr/>
            <a:r>
              <a:t>Nota</a:t>
            </a:r>
          </a:p>
        </p:txBody>
      </p:sp>
      <p:sp>
        <p:nvSpPr>
          <p:cNvPr id="54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o e có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62" name="Shape 1"/>
          <p:cNvSpPr/>
          <p:nvPr/>
        </p:nvSpPr>
        <p:spPr>
          <a:xfrm>
            <a:off x="548640" y="1371594"/>
            <a:ext cx="5440680" cy="4663450"/>
          </a:xfrm>
          <a:prstGeom prst="rect">
            <a:avLst/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" name="Shape 2"/>
          <p:cNvSpPr/>
          <p:nvPr/>
        </p:nvSpPr>
        <p:spPr>
          <a:xfrm>
            <a:off x="6172200" y="1371594"/>
            <a:ext cx="5440680" cy="466345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Nível um…"/>
          <p:cNvSpPr txBox="1"/>
          <p:nvPr>
            <p:ph type="body" sz="half" idx="1" hasCustomPrompt="1"/>
          </p:nvPr>
        </p:nvSpPr>
        <p:spPr>
          <a:xfrm>
            <a:off x="822960" y="1600200"/>
            <a:ext cx="4892041" cy="42062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 sz="1800"/>
            </a:lvl1pPr>
            <a:lvl2pPr marL="640896" indent="-183696">
              <a:spcBef>
                <a:spcPts val="800"/>
              </a:spcBef>
              <a:defRPr sz="1800"/>
            </a:lvl2pPr>
            <a:lvl3pPr marL="1085850" indent="-171450">
              <a:spcBef>
                <a:spcPts val="800"/>
              </a:spcBef>
              <a:defRPr sz="1800"/>
            </a:lvl3pPr>
            <a:lvl4pPr marL="1577338" indent="-205738">
              <a:spcBef>
                <a:spcPts val="800"/>
              </a:spcBef>
              <a:defRPr sz="1800"/>
            </a:lvl4pPr>
            <a:lvl5pPr marL="2034538" indent="-205738">
              <a:spcBef>
                <a:spcPts val="800"/>
              </a:spcBef>
              <a:defRPr sz="1800"/>
            </a:lvl5pPr>
          </a:lstStyle>
          <a:p>
            <a:pPr/>
            <a:r>
              <a:t>Texto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5" name="Text 3"/>
          <p:cNvSpPr/>
          <p:nvPr>
            <p:ph type="body" sz="quarter" idx="21" hasCustomPrompt="1"/>
          </p:nvPr>
        </p:nvSpPr>
        <p:spPr>
          <a:xfrm>
            <a:off x="6400800" y="1508760"/>
            <a:ext cx="2743200" cy="36576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b="1" sz="1400">
                <a:solidFill>
                  <a:schemeClr val="accent1"/>
                </a:solidFill>
              </a:defRPr>
            </a:lvl1pPr>
          </a:lstStyle>
          <a:p>
            <a:pPr/>
            <a:r>
              <a:t>Linguagem</a:t>
            </a:r>
          </a:p>
        </p:txBody>
      </p:sp>
      <p:sp>
        <p:nvSpPr>
          <p:cNvPr id="66" name="Text 3"/>
          <p:cNvSpPr/>
          <p:nvPr>
            <p:ph type="body" sz="half" idx="22" hasCustomPrompt="1"/>
          </p:nvPr>
        </p:nvSpPr>
        <p:spPr>
          <a:xfrm>
            <a:off x="6400800" y="2011675"/>
            <a:ext cx="4983480" cy="3840489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// código</a:t>
            </a:r>
          </a:p>
        </p:txBody>
      </p:sp>
      <p:sp>
        <p:nvSpPr>
          <p:cNvPr id="67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uas colunas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do slide</a:t>
            </a:r>
          </a:p>
        </p:txBody>
      </p:sp>
      <p:sp>
        <p:nvSpPr>
          <p:cNvPr id="75" name="Shape 1"/>
          <p:cNvSpPr/>
          <p:nvPr/>
        </p:nvSpPr>
        <p:spPr>
          <a:xfrm>
            <a:off x="548640" y="1371594"/>
            <a:ext cx="5440680" cy="4663450"/>
          </a:xfrm>
          <a:prstGeom prst="rect">
            <a:avLst/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" name="Shape 2"/>
          <p:cNvSpPr/>
          <p:nvPr/>
        </p:nvSpPr>
        <p:spPr>
          <a:xfrm>
            <a:off x="6172200" y="1371594"/>
            <a:ext cx="5440680" cy="4663450"/>
          </a:xfrm>
          <a:prstGeom prst="rect">
            <a:avLst/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" name="Nível um…"/>
          <p:cNvSpPr txBox="1"/>
          <p:nvPr>
            <p:ph type="body" sz="quarter" idx="1" hasCustomPrompt="1"/>
          </p:nvPr>
        </p:nvSpPr>
        <p:spPr>
          <a:xfrm>
            <a:off x="822960" y="1600200"/>
            <a:ext cx="4892041" cy="50292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b="1" sz="2200">
                <a:solidFill>
                  <a:schemeClr val="accent2"/>
                </a:solidFill>
              </a:defRPr>
            </a:lvl1pPr>
            <a:lvl2pPr marL="681717" indent="-224517">
              <a:spcBef>
                <a:spcPts val="500"/>
              </a:spcBef>
              <a:defRPr b="1" sz="2200">
                <a:solidFill>
                  <a:schemeClr val="accent2"/>
                </a:solidFill>
              </a:defRPr>
            </a:lvl2pPr>
            <a:lvl3pPr marL="1123950" indent="-209550">
              <a:spcBef>
                <a:spcPts val="500"/>
              </a:spcBef>
              <a:defRPr b="1" sz="2200">
                <a:solidFill>
                  <a:schemeClr val="accent2"/>
                </a:solidFill>
              </a:defRPr>
            </a:lvl3pPr>
            <a:lvl4pPr marL="1623060" indent="-251460">
              <a:spcBef>
                <a:spcPts val="500"/>
              </a:spcBef>
              <a:defRPr b="1" sz="2200">
                <a:solidFill>
                  <a:schemeClr val="accent2"/>
                </a:solidFill>
              </a:defRPr>
            </a:lvl4pPr>
            <a:lvl5pPr marL="2080260" indent="-251460">
              <a:spcBef>
                <a:spcPts val="500"/>
              </a:spcBef>
              <a:defRPr b="1" sz="2200">
                <a:solidFill>
                  <a:schemeClr val="accent2"/>
                </a:solidFill>
              </a:defRPr>
            </a:lvl5pPr>
          </a:lstStyle>
          <a:p>
            <a:pPr/>
            <a:r>
              <a:t>Coluna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8" name="Text 3"/>
          <p:cNvSpPr/>
          <p:nvPr>
            <p:ph type="body" sz="half" idx="21" hasCustomPrompt="1"/>
          </p:nvPr>
        </p:nvSpPr>
        <p:spPr>
          <a:xfrm>
            <a:off x="822955" y="2285998"/>
            <a:ext cx="4892052" cy="356616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Texto</a:t>
            </a:r>
          </a:p>
        </p:txBody>
      </p:sp>
      <p:sp>
        <p:nvSpPr>
          <p:cNvPr id="79" name="Text 3"/>
          <p:cNvSpPr/>
          <p:nvPr>
            <p:ph type="body" sz="quarter" idx="22" hasCustomPrompt="1"/>
          </p:nvPr>
        </p:nvSpPr>
        <p:spPr>
          <a:xfrm>
            <a:off x="6446518" y="1600199"/>
            <a:ext cx="4892049" cy="50292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b="1" sz="2200">
                <a:solidFill>
                  <a:schemeClr val="accent4"/>
                </a:solidFill>
              </a:defRPr>
            </a:lvl1pPr>
          </a:lstStyle>
          <a:p>
            <a:pPr/>
            <a:r>
              <a:t>Coluna 2</a:t>
            </a:r>
          </a:p>
        </p:txBody>
      </p:sp>
      <p:sp>
        <p:nvSpPr>
          <p:cNvPr id="80" name="Text 3"/>
          <p:cNvSpPr/>
          <p:nvPr>
            <p:ph type="body" sz="half" idx="23" hasCustomPrompt="1"/>
          </p:nvPr>
        </p:nvSpPr>
        <p:spPr>
          <a:xfrm>
            <a:off x="6446518" y="2285998"/>
            <a:ext cx="4892049" cy="356616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Texto</a:t>
            </a:r>
          </a:p>
        </p:txBody>
      </p:sp>
      <p:sp>
        <p:nvSpPr>
          <p:cNvPr id="81" name="Número do diapositivo"/>
          <p:cNvSpPr txBox="1"/>
          <p:nvPr>
            <p:ph type="sldNum" sz="quarter" idx="2"/>
          </p:nvPr>
        </p:nvSpPr>
        <p:spPr>
          <a:xfrm>
            <a:off x="11380011" y="6400800"/>
            <a:ext cx="232873" cy="22850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scuro com texto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ítulo do slid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Título do slide</a:t>
            </a:r>
          </a:p>
        </p:txBody>
      </p:sp>
      <p:sp>
        <p:nvSpPr>
          <p:cNvPr id="89" name="Nível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sz="2200">
                <a:solidFill>
                  <a:srgbClr val="FFFFFF"/>
                </a:solidFill>
              </a:defRPr>
            </a:lvl1pPr>
            <a:lvl2pPr marL="681717" indent="-224517">
              <a:spcBef>
                <a:spcPts val="1400"/>
              </a:spcBef>
              <a:defRPr sz="2200">
                <a:solidFill>
                  <a:srgbClr val="FFFFFF"/>
                </a:solidFill>
              </a:defRPr>
            </a:lvl2pPr>
            <a:lvl3pPr marL="1123950" indent="-209550">
              <a:spcBef>
                <a:spcPts val="1400"/>
              </a:spcBef>
              <a:defRPr sz="2200">
                <a:solidFill>
                  <a:srgbClr val="FFFFFF"/>
                </a:solidFill>
              </a:defRPr>
            </a:lvl3pPr>
            <a:lvl4pPr marL="1623060" indent="-251460">
              <a:spcBef>
                <a:spcPts val="1400"/>
              </a:spcBef>
              <a:defRPr sz="2200">
                <a:solidFill>
                  <a:srgbClr val="FFFFFF"/>
                </a:solidFill>
              </a:defRPr>
            </a:lvl4pPr>
            <a:lvl5pPr marL="2080260" indent="-251460">
              <a:spcBef>
                <a:spcPts val="1400"/>
              </a:spcBef>
              <a:defRPr sz="2200">
                <a:solidFill>
                  <a:srgbClr val="FFFFFF"/>
                </a:solidFill>
              </a:defRPr>
            </a:lvl5pPr>
          </a:lstStyle>
          <a:p>
            <a:pPr/>
            <a:r>
              <a:t>Texto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Número do diapositivo"/>
          <p:cNvSpPr txBox="1"/>
          <p:nvPr>
            <p:ph type="sldNum" sz="quarter" idx="2"/>
          </p:nvPr>
        </p:nvSpPr>
        <p:spPr>
          <a:xfrm>
            <a:off x="11380011" y="6400800"/>
            <a:ext cx="232873" cy="22850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69424"/>
            <a:ext cx="7315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Persistência local e funcionamento offline</a:t>
            </a:r>
          </a:p>
        </p:txBody>
      </p:sp>
      <p:sp>
        <p:nvSpPr>
          <p:cNvPr id="3" name="Título do slide"/>
          <p:cNvSpPr txBox="1"/>
          <p:nvPr>
            <p:ph type="title" hasCustomPrompt="1"/>
          </p:nvPr>
        </p:nvSpPr>
        <p:spPr>
          <a:xfrm>
            <a:off x="548640" y="320040"/>
            <a:ext cx="1106424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Título do slide</a:t>
            </a:r>
          </a:p>
        </p:txBody>
      </p:sp>
      <p:sp>
        <p:nvSpPr>
          <p:cNvPr id="4" name="Nível um…"/>
          <p:cNvSpPr txBox="1"/>
          <p:nvPr>
            <p:ph type="body" idx="1" hasCustomPrompt="1"/>
          </p:nvPr>
        </p:nvSpPr>
        <p:spPr>
          <a:xfrm>
            <a:off x="548640" y="1371600"/>
            <a:ext cx="11064241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Texto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" name="Número do diapositivo"/>
          <p:cNvSpPr txBox="1"/>
          <p:nvPr>
            <p:ph type="sldNum" sz="quarter" idx="2"/>
          </p:nvPr>
        </p:nvSpPr>
        <p:spPr>
          <a:xfrm>
            <a:off x="11380012" y="6400800"/>
            <a:ext cx="232873" cy="22850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chemeClr val="accent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rgbClr val="17212B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1pPr>
      <a:lvl2pPr marL="661307" marR="0" indent="-204107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2pPr>
      <a:lvl3pPr marL="1104900" marR="0" indent="-1905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3pPr>
      <a:lvl4pPr marL="16002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4pPr>
      <a:lvl5pPr marL="20574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5pPr>
      <a:lvl6pPr marL="25146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6pPr>
      <a:lvl7pPr marL="29718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7pPr>
      <a:lvl8pPr marL="3428998" marR="0" indent="-228599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8pPr>
      <a:lvl9pPr marL="3886198" marR="0" indent="-228598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7212B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vasco19/Projeto-PDM" TargetMode="External"/><Relationship Id="rId3" Type="http://schemas.openxmlformats.org/officeDocument/2006/relationships/hyperlink" Target="http://developer.android.com/topic/architecture" TargetMode="External"/><Relationship Id="rId4" Type="http://schemas.openxmlformats.org/officeDocument/2006/relationships/hyperlink" Target="http://developer.android.com/training/data-storage/shared-preferences" TargetMode="External"/><Relationship Id="rId5" Type="http://schemas.openxmlformats.org/officeDocument/2006/relationships/hyperlink" Target="http://developer.android.com/topic/libraries/architecture/datastore" TargetMode="External"/><Relationship Id="rId6" Type="http://schemas.openxmlformats.org/officeDocument/2006/relationships/hyperlink" Target="http://developer.android.com/training/data-storage/app-specific" TargetMode="External"/><Relationship Id="rId7" Type="http://schemas.openxmlformats.org/officeDocument/2006/relationships/hyperlink" Target="http://developer.android.com/training/data-storage/sqlite" TargetMode="External"/><Relationship Id="rId8" Type="http://schemas.openxmlformats.org/officeDocument/2006/relationships/hyperlink" Target="http://developer.android.com/training/data-storage/room" TargetMode="External"/><Relationship Id="rId9" Type="http://schemas.openxmlformats.org/officeDocument/2006/relationships/hyperlink" Target="http://developer.android.com/training/data-storage/room/migrating-db-versions" TargetMode="External"/><Relationship Id="rId10" Type="http://schemas.openxmlformats.org/officeDocument/2006/relationships/hyperlink" Target="http://developer.android.com/topic/architecture/data-layer/offline-first" TargetMode="External"/><Relationship Id="rId11" Type="http://schemas.openxmlformats.org/officeDocument/2006/relationships/hyperlink" Target="http://developer.android.com/kotlin/coroutine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 txBox="1"/>
          <p:nvPr>
            <p:ph type="title"/>
          </p:nvPr>
        </p:nvSpPr>
        <p:spPr>
          <a:xfrm>
            <a:off x="731519" y="1828799"/>
            <a:ext cx="10698482" cy="1645924"/>
          </a:xfrm>
          <a:prstGeom prst="rect">
            <a:avLst/>
          </a:prstGeom>
        </p:spPr>
        <p:txBody>
          <a:bodyPr anchor="b"/>
          <a:lstStyle/>
          <a:p>
            <a:pPr/>
            <a:r>
              <a:t>Persistência local e funcionamento offline</a:t>
            </a:r>
          </a:p>
        </p:txBody>
      </p:sp>
      <p:sp>
        <p:nvSpPr>
          <p:cNvPr id="100" name="Text 0"/>
          <p:cNvSpPr txBox="1"/>
          <p:nvPr>
            <p:ph type="body" sz="quarter" idx="1"/>
          </p:nvPr>
        </p:nvSpPr>
        <p:spPr>
          <a:xfrm>
            <a:off x="731519" y="3657600"/>
            <a:ext cx="10698482" cy="914400"/>
          </a:xfrm>
          <a:prstGeom prst="rect">
            <a:avLst/>
          </a:prstGeom>
        </p:spPr>
        <p:txBody>
          <a:bodyPr/>
          <a:lstStyle/>
          <a:p>
            <a:pPr/>
            <a:r>
              <a:t>Grupo 7</a:t>
            </a:r>
          </a:p>
        </p:txBody>
      </p:sp>
      <p:sp>
        <p:nvSpPr>
          <p:cNvPr id="101" name="Text 0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r>
              <a:t>João Loja · Ivan Bonifácio· Tomás Silva · Tomás Fonseca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Persistência local: o que é e porquê?</a:t>
            </a:r>
          </a:p>
        </p:txBody>
      </p:sp>
      <p:sp>
        <p:nvSpPr>
          <p:cNvPr id="104" name="rótulo o que é"/>
          <p:cNvSpPr txBox="1"/>
          <p:nvPr/>
        </p:nvSpPr>
        <p:spPr>
          <a:xfrm>
            <a:off x="548640" y="1325880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QUE É?</a:t>
            </a:r>
          </a:p>
        </p:txBody>
      </p:sp>
      <p:sp>
        <p:nvSpPr>
          <p:cNvPr id="105" name="definição"/>
          <p:cNvSpPr txBox="1"/>
          <p:nvPr/>
        </p:nvSpPr>
        <p:spPr>
          <a:xfrm>
            <a:off x="548637" y="1691638"/>
            <a:ext cx="5394967" cy="1005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latin typeface="+mj-lt"/>
                <a:ea typeface="+mj-ea"/>
                <a:cs typeface="+mj-cs"/>
                <a:sym typeface="Calibri"/>
              </a:defRPr>
            </a:pPr>
            <a:r>
              <a:t>Guardar os dados no armazenamento do próprio dispositivo, para que </a:t>
            </a:r>
            <a:r>
              <a:rPr b="1"/>
              <a:t>sobrevivam ao fecho da app.</a:t>
            </a:r>
          </a:p>
        </p:txBody>
      </p:sp>
      <p:grpSp>
        <p:nvGrpSpPr>
          <p:cNvPr id="108" name="RAM caixa"/>
          <p:cNvGrpSpPr/>
          <p:nvPr/>
        </p:nvGrpSpPr>
        <p:grpSpPr>
          <a:xfrm>
            <a:off x="6400800" y="1417315"/>
            <a:ext cx="2057400" cy="1234451"/>
            <a:chOff x="0" y="-1"/>
            <a:chExt cx="2057400" cy="1234449"/>
          </a:xfrm>
        </p:grpSpPr>
        <p:sp>
          <p:nvSpPr>
            <p:cNvPr id="106" name="Retângulo arredondado"/>
            <p:cNvSpPr/>
            <p:nvPr/>
          </p:nvSpPr>
          <p:spPr>
            <a:xfrm>
              <a:off x="0" y="-2"/>
              <a:ext cx="2057400" cy="1234451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07" name="RAM…"/>
            <p:cNvSpPr txBox="1"/>
            <p:nvPr/>
          </p:nvSpPr>
          <p:spPr>
            <a:xfrm>
              <a:off x="120363" y="188401"/>
              <a:ext cx="1816676" cy="857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/>
            <a:p>
              <a:pPr>
                <a:spcBef>
                  <a:spcPts val="300"/>
                </a:spcBef>
                <a:defRPr b="1" sz="20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RAM</a:t>
              </a:r>
            </a:p>
            <a:p>
              <a:pPr>
                <a:defRPr sz="1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volátil: apaga-se</a:t>
              </a:r>
            </a:p>
            <a:p>
              <a:pPr>
                <a:defRPr sz="1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quando a app fecha</a:t>
              </a:r>
            </a:p>
          </p:txBody>
        </p:sp>
      </p:grpSp>
      <p:grpSp>
        <p:nvGrpSpPr>
          <p:cNvPr id="111" name="Disco caixa"/>
          <p:cNvGrpSpPr/>
          <p:nvPr/>
        </p:nvGrpSpPr>
        <p:grpSpPr>
          <a:xfrm>
            <a:off x="9582911" y="1417315"/>
            <a:ext cx="2057406" cy="1234451"/>
            <a:chOff x="0" y="-1"/>
            <a:chExt cx="2057405" cy="1234449"/>
          </a:xfrm>
        </p:grpSpPr>
        <p:sp>
          <p:nvSpPr>
            <p:cNvPr id="109" name="Retângulo arredondado"/>
            <p:cNvSpPr/>
            <p:nvPr/>
          </p:nvSpPr>
          <p:spPr>
            <a:xfrm>
              <a:off x="0" y="-2"/>
              <a:ext cx="2057406" cy="1234451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10" name="Disco…"/>
            <p:cNvSpPr txBox="1"/>
            <p:nvPr/>
          </p:nvSpPr>
          <p:spPr>
            <a:xfrm>
              <a:off x="120364" y="188401"/>
              <a:ext cx="1816678" cy="857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/>
            <a:p>
              <a:pPr>
                <a:spcBef>
                  <a:spcPts val="300"/>
                </a:spcBef>
                <a:defRPr b="1" sz="20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Disco</a:t>
              </a:r>
            </a:p>
            <a:p>
              <a:pPr>
                <a:defRPr sz="1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permanente: fica</a:t>
              </a:r>
            </a:p>
            <a:p>
              <a:pPr>
                <a:defRPr sz="13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r>
                <a:t>até desinstalar</a:t>
              </a:r>
            </a:p>
          </p:txBody>
        </p:sp>
      </p:grpSp>
      <p:sp>
        <p:nvSpPr>
          <p:cNvPr id="112" name="seta guardar"/>
          <p:cNvSpPr/>
          <p:nvPr/>
        </p:nvSpPr>
        <p:spPr>
          <a:xfrm>
            <a:off x="8549640" y="2034538"/>
            <a:ext cx="941835" cy="4"/>
          </a:xfrm>
          <a:prstGeom prst="line">
            <a:avLst/>
          </a:prstGeom>
          <a:ln w="28575">
            <a:solidFill>
              <a:schemeClr val="accent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rótulo guardar"/>
          <p:cNvSpPr txBox="1"/>
          <p:nvPr/>
        </p:nvSpPr>
        <p:spPr>
          <a:xfrm>
            <a:off x="8549640" y="1776338"/>
            <a:ext cx="94183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1300">
                <a:solidFill>
                  <a:schemeClr val="accent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guardar</a:t>
            </a:r>
          </a:p>
        </p:txBody>
      </p:sp>
      <p:sp>
        <p:nvSpPr>
          <p:cNvPr id="114" name="rótulo porquê"/>
          <p:cNvSpPr txBox="1"/>
          <p:nvPr/>
        </p:nvSpPr>
        <p:spPr>
          <a:xfrm>
            <a:off x="548640" y="3108960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PORQUÊ?</a:t>
            </a:r>
          </a:p>
        </p:txBody>
      </p:sp>
      <p:sp>
        <p:nvSpPr>
          <p:cNvPr id="115" name="cartão 1"/>
          <p:cNvSpPr/>
          <p:nvPr/>
        </p:nvSpPr>
        <p:spPr>
          <a:xfrm>
            <a:off x="548640" y="3474720"/>
            <a:ext cx="3514346" cy="1417324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18" name="número 1"/>
          <p:cNvGrpSpPr/>
          <p:nvPr/>
        </p:nvGrpSpPr>
        <p:grpSpPr>
          <a:xfrm>
            <a:off x="777234" y="3703315"/>
            <a:ext cx="411491" cy="411489"/>
            <a:chOff x="-1" y="-1"/>
            <a:chExt cx="411489" cy="411488"/>
          </a:xfrm>
        </p:grpSpPr>
        <p:sp>
          <p:nvSpPr>
            <p:cNvPr id="116" name="Círculo"/>
            <p:cNvSpPr/>
            <p:nvPr/>
          </p:nvSpPr>
          <p:spPr>
            <a:xfrm>
              <a:off x="-2" y="-2"/>
              <a:ext cx="411491" cy="411489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17" name="1"/>
            <p:cNvSpPr txBox="1"/>
            <p:nvPr/>
          </p:nvSpPr>
          <p:spPr>
            <a:xfrm>
              <a:off x="60261" y="101164"/>
              <a:ext cx="290966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19" name="cartão 1 título"/>
          <p:cNvSpPr txBox="1"/>
          <p:nvPr/>
        </p:nvSpPr>
        <p:spPr>
          <a:xfrm>
            <a:off x="1325877" y="3799535"/>
            <a:ext cx="2554229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Funcionar sem rede</a:t>
            </a:r>
          </a:p>
        </p:txBody>
      </p:sp>
      <p:sp>
        <p:nvSpPr>
          <p:cNvPr id="120" name="cartão 1 texto"/>
          <p:cNvSpPr txBox="1"/>
          <p:nvPr/>
        </p:nvSpPr>
        <p:spPr>
          <a:xfrm>
            <a:off x="777240" y="4251959"/>
            <a:ext cx="3057146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3535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 app continua utilizável offline, em modo de avião ou sem cobertura.</a:t>
            </a:r>
          </a:p>
        </p:txBody>
      </p:sp>
      <p:sp>
        <p:nvSpPr>
          <p:cNvPr id="121" name="cartão 2"/>
          <p:cNvSpPr/>
          <p:nvPr/>
        </p:nvSpPr>
        <p:spPr>
          <a:xfrm>
            <a:off x="4337303" y="3474720"/>
            <a:ext cx="3514348" cy="1417324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24" name="número 2"/>
          <p:cNvGrpSpPr/>
          <p:nvPr/>
        </p:nvGrpSpPr>
        <p:grpSpPr>
          <a:xfrm>
            <a:off x="4565898" y="3703315"/>
            <a:ext cx="411489" cy="411489"/>
            <a:chOff x="-1" y="-1"/>
            <a:chExt cx="411488" cy="411488"/>
          </a:xfrm>
        </p:grpSpPr>
        <p:sp>
          <p:nvSpPr>
            <p:cNvPr id="122" name="Círculo"/>
            <p:cNvSpPr/>
            <p:nvPr/>
          </p:nvSpPr>
          <p:spPr>
            <a:xfrm>
              <a:off x="-2" y="-2"/>
              <a:ext cx="411489" cy="411489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3" name="2"/>
            <p:cNvSpPr txBox="1"/>
            <p:nvPr/>
          </p:nvSpPr>
          <p:spPr>
            <a:xfrm>
              <a:off x="60260" y="101164"/>
              <a:ext cx="290965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5" name="cartão 2 título"/>
          <p:cNvSpPr txBox="1"/>
          <p:nvPr/>
        </p:nvSpPr>
        <p:spPr>
          <a:xfrm>
            <a:off x="5114544" y="3799535"/>
            <a:ext cx="255422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Resposta imediata</a:t>
            </a:r>
          </a:p>
        </p:txBody>
      </p:sp>
      <p:sp>
        <p:nvSpPr>
          <p:cNvPr id="126" name="cartão 2 texto"/>
          <p:cNvSpPr txBox="1"/>
          <p:nvPr/>
        </p:nvSpPr>
        <p:spPr>
          <a:xfrm>
            <a:off x="4565903" y="4251959"/>
            <a:ext cx="305714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3535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Ler do disco é mais rápido do que esperar por um servidor.</a:t>
            </a:r>
          </a:p>
        </p:txBody>
      </p:sp>
      <p:sp>
        <p:nvSpPr>
          <p:cNvPr id="127" name="cartão 3"/>
          <p:cNvSpPr/>
          <p:nvPr/>
        </p:nvSpPr>
        <p:spPr>
          <a:xfrm>
            <a:off x="8125968" y="3474720"/>
            <a:ext cx="3514348" cy="1417324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30" name="número 3"/>
          <p:cNvGrpSpPr/>
          <p:nvPr/>
        </p:nvGrpSpPr>
        <p:grpSpPr>
          <a:xfrm>
            <a:off x="8354564" y="3703315"/>
            <a:ext cx="411489" cy="411489"/>
            <a:chOff x="-1" y="-1"/>
            <a:chExt cx="411488" cy="411488"/>
          </a:xfrm>
        </p:grpSpPr>
        <p:sp>
          <p:nvSpPr>
            <p:cNvPr id="128" name="Círculo"/>
            <p:cNvSpPr/>
            <p:nvPr/>
          </p:nvSpPr>
          <p:spPr>
            <a:xfrm>
              <a:off x="-2" y="-2"/>
              <a:ext cx="411489" cy="411489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9" name="3"/>
            <p:cNvSpPr txBox="1"/>
            <p:nvPr/>
          </p:nvSpPr>
          <p:spPr>
            <a:xfrm>
              <a:off x="60260" y="101164"/>
              <a:ext cx="290965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31" name="cartão 3 título"/>
          <p:cNvSpPr txBox="1"/>
          <p:nvPr/>
        </p:nvSpPr>
        <p:spPr>
          <a:xfrm>
            <a:off x="8903206" y="3799535"/>
            <a:ext cx="2554226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Lembrar o utilizador</a:t>
            </a:r>
          </a:p>
        </p:txBody>
      </p:sp>
      <p:sp>
        <p:nvSpPr>
          <p:cNvPr id="132" name="cartão 3 texto"/>
          <p:cNvSpPr txBox="1"/>
          <p:nvPr/>
        </p:nvSpPr>
        <p:spPr>
          <a:xfrm>
            <a:off x="8354568" y="4251959"/>
            <a:ext cx="305714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3535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Definições e dados mantêm-se entre utilizações.</a:t>
            </a:r>
          </a:p>
        </p:txBody>
      </p:sp>
      <p:sp>
        <p:nvSpPr>
          <p:cNvPr id="133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Métodos de persistência local</a:t>
            </a:r>
          </a:p>
        </p:txBody>
      </p:sp>
      <p:sp>
        <p:nvSpPr>
          <p:cNvPr id="136" name="cartão 1"/>
          <p:cNvSpPr/>
          <p:nvPr/>
        </p:nvSpPr>
        <p:spPr>
          <a:xfrm>
            <a:off x="548640" y="1371600"/>
            <a:ext cx="5362956" cy="3977641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39" name="número 1"/>
          <p:cNvGrpSpPr/>
          <p:nvPr/>
        </p:nvGrpSpPr>
        <p:grpSpPr>
          <a:xfrm>
            <a:off x="868680" y="1645920"/>
            <a:ext cx="457207" cy="457207"/>
            <a:chOff x="0" y="0"/>
            <a:chExt cx="457206" cy="457206"/>
          </a:xfrm>
        </p:grpSpPr>
        <p:sp>
          <p:nvSpPr>
            <p:cNvPr id="137" name="Círculo"/>
            <p:cNvSpPr/>
            <p:nvPr/>
          </p:nvSpPr>
          <p:spPr>
            <a:xfrm>
              <a:off x="0" y="0"/>
              <a:ext cx="457207" cy="457207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38" name="1"/>
            <p:cNvSpPr txBox="1"/>
            <p:nvPr/>
          </p:nvSpPr>
          <p:spPr>
            <a:xfrm>
              <a:off x="66954" y="107776"/>
              <a:ext cx="323296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40" name="cartão 1 título"/>
          <p:cNvSpPr txBox="1"/>
          <p:nvPr/>
        </p:nvSpPr>
        <p:spPr>
          <a:xfrm>
            <a:off x="1508757" y="1727550"/>
            <a:ext cx="408280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Pares chave/valor</a:t>
            </a:r>
          </a:p>
        </p:txBody>
      </p:sp>
      <p:sp>
        <p:nvSpPr>
          <p:cNvPr id="141" name="cartão 1 texto"/>
          <p:cNvSpPr txBox="1"/>
          <p:nvPr/>
        </p:nvSpPr>
        <p:spPr>
          <a:xfrm>
            <a:off x="868680" y="2331720"/>
            <a:ext cx="4722877" cy="239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Cada valor é guardado com um nome  e um valor associado.</a:t>
            </a:r>
            <a:br/>
            <a:br/>
            <a:r>
              <a:t>É usado para definições e preferências pequenas, como o tema.</a:t>
            </a:r>
            <a:endParaRPr b="1">
              <a:solidFill>
                <a:schemeClr val="accent2"/>
              </a:solidFill>
            </a:endParaRP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É feito através de um ficheiro pequeno na pasta privada da app.</a:t>
            </a:r>
            <a:endParaRPr b="1">
              <a:solidFill>
                <a:schemeClr val="accent2"/>
              </a:solidFill>
            </a:endParaRP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Tem duas formas de implementação: SharedPreferences e DataStore.</a:t>
            </a:r>
            <a:endParaRPr b="1">
              <a:solidFill>
                <a:schemeClr val="accent2"/>
              </a:solidFill>
            </a:endParaRP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Não serve para listas grandes nem para pesquisas.</a:t>
            </a:r>
          </a:p>
        </p:txBody>
      </p:sp>
      <p:sp>
        <p:nvSpPr>
          <p:cNvPr id="142" name="cartão 2"/>
          <p:cNvSpPr/>
          <p:nvPr/>
        </p:nvSpPr>
        <p:spPr>
          <a:xfrm>
            <a:off x="6277354" y="1371600"/>
            <a:ext cx="5362958" cy="3977641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45" name="número 2"/>
          <p:cNvGrpSpPr/>
          <p:nvPr/>
        </p:nvGrpSpPr>
        <p:grpSpPr>
          <a:xfrm>
            <a:off x="6597394" y="1645920"/>
            <a:ext cx="457207" cy="457207"/>
            <a:chOff x="0" y="0"/>
            <a:chExt cx="457206" cy="457206"/>
          </a:xfrm>
        </p:grpSpPr>
        <p:sp>
          <p:nvSpPr>
            <p:cNvPr id="143" name="Círculo"/>
            <p:cNvSpPr/>
            <p:nvPr/>
          </p:nvSpPr>
          <p:spPr>
            <a:xfrm>
              <a:off x="0" y="0"/>
              <a:ext cx="457207" cy="457207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4" name="2"/>
            <p:cNvSpPr txBox="1"/>
            <p:nvPr/>
          </p:nvSpPr>
          <p:spPr>
            <a:xfrm>
              <a:off x="66954" y="107776"/>
              <a:ext cx="323296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6" name="cartão 2 título"/>
          <p:cNvSpPr txBox="1"/>
          <p:nvPr/>
        </p:nvSpPr>
        <p:spPr>
          <a:xfrm>
            <a:off x="7237476" y="1727550"/>
            <a:ext cx="4082799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Ficheiros internos</a:t>
            </a:r>
          </a:p>
        </p:txBody>
      </p:sp>
      <p:sp>
        <p:nvSpPr>
          <p:cNvPr id="147" name="cartão 2 texto"/>
          <p:cNvSpPr txBox="1"/>
          <p:nvPr/>
        </p:nvSpPr>
        <p:spPr>
          <a:xfrm>
            <a:off x="6597394" y="2331720"/>
            <a:ext cx="4722878" cy="2066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Cada ficheiro é guardado completo na pasta privada da app.</a:t>
            </a: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É usado para dados sem estrutura fixa, como JSON ou imagens.</a:t>
            </a: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Usa duas pastas: filesDir (permanente) e cacheDir (temporário).</a:t>
            </a: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Não precisa de permissões e é apagado ao desinstalar a app.</a:t>
            </a:r>
          </a:p>
          <a:p>
            <a:pPr>
              <a:spcBef>
                <a:spcPts val="1000"/>
              </a:spcBef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Para mudar um dado é preciso reescrever o ficheiro todo.</a:t>
            </a:r>
          </a:p>
        </p:txBody>
      </p:sp>
      <p:sp>
        <p:nvSpPr>
          <p:cNvPr id="148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SharedPreferences</a:t>
            </a:r>
          </a:p>
        </p:txBody>
      </p:sp>
      <p:sp>
        <p:nvSpPr>
          <p:cNvPr id="151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Guardam pequenos dados como pares chave/valor: cada valor tem um nome, por exemplo show_done = true.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Os valores ficam num ficheiro XML na pasta privada da app.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Quando a app pede as preferências pela primeira vez, normalmente ao abrir, o ficheiro é carregado todo para memória.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Ler é imediato, mas se o ficheiro ainda não acabou de carregar, a app fica parada à espera.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Gravar faz-se com edit() e apply(): o valor muda logo em memória e é escrito no ficheiro em segundo plano, sem avisar se falhar.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Usam-se quando há poucos valores simples e o ecrã não precisa de reagir sozinho a mudanças. São a opção mais direta em Java, sem bibliotecas extra.</a:t>
            </a:r>
          </a:p>
        </p:txBody>
      </p:sp>
      <p:sp>
        <p:nvSpPr>
          <p:cNvPr id="152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Java</a:t>
            </a:r>
          </a:p>
        </p:txBody>
      </p:sp>
      <p:sp>
        <p:nvSpPr>
          <p:cNvPr id="153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solidFill>
                  <a:srgbClr val="C9CBCF"/>
                </a:solidFill>
              </a:defRPr>
            </a:pPr>
            <a:r>
              <a:t>SharedPreferences prefs =</a:t>
            </a: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    context.</a:t>
            </a:r>
            <a:r>
              <a:rPr>
                <a:solidFill>
                  <a:srgbClr val="6ABCFA"/>
                </a:solidFill>
              </a:rPr>
              <a:t>getSharedPreferences</a:t>
            </a:r>
            <a:r>
              <a:t>(</a:t>
            </a: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        </a:t>
            </a:r>
            <a:r>
              <a:rPr>
                <a:solidFill>
                  <a:srgbClr val="7AB684"/>
                </a:solidFill>
              </a:rPr>
              <a:t>"settings"</a:t>
            </a:r>
            <a:r>
              <a:t>, Context.MODE_PRIVATE);</a:t>
            </a:r>
          </a:p>
          <a:p>
            <a:pPr>
              <a:defRPr sz="1200">
                <a:solidFill>
                  <a:srgbClr val="C9CBCF"/>
                </a:solidFill>
              </a:defRPr>
            </a:pPr>
          </a:p>
          <a:p>
            <a:pPr>
              <a:defRPr sz="1200">
                <a:solidFill>
                  <a:srgbClr val="929BA9"/>
                </a:solidFill>
              </a:defRPr>
            </a:pPr>
            <a:r>
              <a:t>// escrever: grava em segundo plano</a:t>
            </a:r>
            <a:endParaRPr>
              <a:solidFill>
                <a:srgbClr val="C9CBCF"/>
              </a:solidFill>
            </a:endParaRP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prefs.</a:t>
            </a:r>
            <a:r>
              <a:rPr>
                <a:solidFill>
                  <a:srgbClr val="6ABCFA"/>
                </a:solidFill>
              </a:rPr>
              <a:t>edit</a:t>
            </a:r>
            <a:r>
              <a:t>()</a:t>
            </a: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    .</a:t>
            </a:r>
            <a:r>
              <a:rPr>
                <a:solidFill>
                  <a:srgbClr val="6ABCFA"/>
                </a:solidFill>
              </a:rPr>
              <a:t>putBoolean</a:t>
            </a:r>
            <a:r>
              <a:t>(</a:t>
            </a:r>
            <a:r>
              <a:rPr>
                <a:solidFill>
                  <a:srgbClr val="7AB684"/>
                </a:solidFill>
              </a:rPr>
              <a:t>"show_done"</a:t>
            </a:r>
            <a:r>
              <a:t>, </a:t>
            </a:r>
            <a:r>
              <a:rPr>
                <a:solidFill>
                  <a:srgbClr val="D9A07E"/>
                </a:solidFill>
              </a:rPr>
              <a:t>true</a:t>
            </a:r>
            <a:r>
              <a:t>)</a:t>
            </a: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    .</a:t>
            </a:r>
            <a:r>
              <a:rPr>
                <a:solidFill>
                  <a:srgbClr val="6ABCFA"/>
                </a:solidFill>
              </a:rPr>
              <a:t>apply</a:t>
            </a:r>
            <a:r>
              <a:t>();</a:t>
            </a:r>
          </a:p>
          <a:p>
            <a:pPr>
              <a:defRPr sz="1200">
                <a:solidFill>
                  <a:srgbClr val="C9CBCF"/>
                </a:solidFill>
              </a:defRPr>
            </a:pPr>
          </a:p>
          <a:p>
            <a:pPr>
              <a:defRPr sz="1200">
                <a:solidFill>
                  <a:srgbClr val="929BA9"/>
                </a:solidFill>
              </a:defRPr>
            </a:pPr>
            <a:r>
              <a:t>// ler: síncrono</a:t>
            </a:r>
            <a:endParaRPr>
              <a:solidFill>
                <a:srgbClr val="C9CBCF"/>
              </a:solidFill>
            </a:endParaRPr>
          </a:p>
          <a:p>
            <a:pPr>
              <a:defRPr sz="1200">
                <a:solidFill>
                  <a:srgbClr val="D9A07E"/>
                </a:solidFill>
              </a:defRPr>
            </a:pPr>
            <a:r>
              <a:t>boolean</a:t>
            </a:r>
            <a:r>
              <a:rPr>
                <a:solidFill>
                  <a:srgbClr val="C9CBCF"/>
                </a:solidFill>
              </a:rPr>
              <a:t> showDone =</a:t>
            </a:r>
            <a:endParaRPr>
              <a:solidFill>
                <a:srgbClr val="C9CBCF"/>
              </a:solidFill>
            </a:endParaRPr>
          </a:p>
          <a:p>
            <a:pPr>
              <a:defRPr sz="1200">
                <a:solidFill>
                  <a:srgbClr val="C9CBCF"/>
                </a:solidFill>
              </a:defRPr>
            </a:pPr>
            <a:r>
              <a:t>    prefs.</a:t>
            </a:r>
            <a:r>
              <a:rPr>
                <a:solidFill>
                  <a:srgbClr val="6ABCFA"/>
                </a:solidFill>
              </a:rPr>
              <a:t>getBoolean</a:t>
            </a:r>
            <a:r>
              <a:t>(</a:t>
            </a:r>
            <a:r>
              <a:rPr>
                <a:solidFill>
                  <a:srgbClr val="7AB684"/>
                </a:solidFill>
              </a:rPr>
              <a:t>"show_done"</a:t>
            </a:r>
            <a:r>
              <a:t>, </a:t>
            </a:r>
            <a:r>
              <a:rPr>
                <a:solidFill>
                  <a:srgbClr val="D9A07E"/>
                </a:solidFill>
              </a:rPr>
              <a:t>true</a:t>
            </a:r>
            <a:r>
              <a:t>);</a:t>
            </a:r>
          </a:p>
        </p:txBody>
      </p:sp>
      <p:sp>
        <p:nvSpPr>
          <p:cNvPr id="154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DataStore</a:t>
            </a:r>
          </a:p>
        </p:txBody>
      </p:sp>
      <p:sp>
        <p:nvSpPr>
          <p:cNvPr id="157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É a forma recomendada atualmente para guardar pares chave/valor e substitui as SharedPreferences.</a:t>
            </a:r>
          </a:p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Os valores ficam num ficheiro na pasta privada da app, em files/datastore/.</a:t>
            </a:r>
          </a:p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Nunca bloqueia o ecrã: ler e gravar acontecem sempre em segundo plano.</a:t>
            </a:r>
          </a:p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Para ler, recebemos um Flow: um canal que entrega o valor atual e volta a entregar o novo sempre que ele muda. Assim o ecrã atualiza-se sozinho.</a:t>
            </a:r>
          </a:p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Para gravar, usamos edit() dentro de uma coroutine, uma tarefa que corre em segundo plano sem parar a app. Ou grava tudo, ou não grava nada.</a:t>
            </a:r>
          </a:p>
          <a:p>
            <a:pPr marL="282892" indent="-282892" defTabSz="905255">
              <a:spcBef>
                <a:spcPts val="700"/>
              </a:spcBef>
              <a:buSzPct val="100000"/>
              <a:buFont typeface="Arial"/>
              <a:buChar char="•"/>
              <a:defRPr sz="1400"/>
            </a:pPr>
            <a:r>
              <a:t>Usa-se para definições do utilizador em apps Kotlin, sobretudo quando o ecrã deve reagir logo a uma mudança. Em Java não há Flow nem coroutines, por isso usam-se SharedPreferences.</a:t>
            </a:r>
          </a:p>
        </p:txBody>
      </p:sp>
      <p:sp>
        <p:nvSpPr>
          <p:cNvPr id="158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 · SettingsStore.kt (excerto)</a:t>
            </a:r>
          </a:p>
        </p:txBody>
      </p:sp>
      <p:sp>
        <p:nvSpPr>
          <p:cNvPr id="159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896111">
              <a:spcBef>
                <a:spcPts val="200"/>
              </a:spcBef>
              <a:defRPr sz="1100">
                <a:solidFill>
                  <a:srgbClr val="D9A07E"/>
                </a:solidFill>
              </a:defRPr>
            </a:pPr>
            <a:r>
              <a:t>private</a:t>
            </a:r>
            <a:r>
              <a:rPr>
                <a:solidFill>
                  <a:srgbClr val="C9CBCF"/>
                </a:solidFill>
              </a:rPr>
              <a:t> </a:t>
            </a:r>
            <a:r>
              <a:t>val</a:t>
            </a:r>
            <a:r>
              <a:rPr>
                <a:solidFill>
                  <a:srgbClr val="C9CBCF"/>
                </a:solidFill>
              </a:rPr>
              <a:t> Context.dataStore </a:t>
            </a:r>
            <a:r>
              <a:t>by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</a:t>
            </a:r>
            <a:r>
              <a:rPr>
                <a:solidFill>
                  <a:srgbClr val="6ABCFA"/>
                </a:solidFill>
              </a:rPr>
              <a:t>preferencesDataStore</a:t>
            </a:r>
            <a:r>
              <a:t>(name = </a:t>
            </a:r>
            <a:r>
              <a:rPr>
                <a:solidFill>
                  <a:srgbClr val="7AB684"/>
                </a:solidFill>
              </a:rPr>
              <a:t>"settings"</a:t>
            </a:r>
            <a:r>
              <a:t>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</a:p>
          <a:p>
            <a:pPr defTabSz="896111">
              <a:spcBef>
                <a:spcPts val="200"/>
              </a:spcBef>
              <a:defRPr sz="1100">
                <a:solidFill>
                  <a:srgbClr val="D9A07E"/>
                </a:solidFill>
              </a:defRPr>
            </a:pPr>
            <a:r>
              <a:t>private</a:t>
            </a:r>
            <a:r>
              <a:rPr>
                <a:solidFill>
                  <a:srgbClr val="C9CBCF"/>
                </a:solidFill>
              </a:rPr>
              <a:t> </a:t>
            </a:r>
            <a:r>
              <a:t>val</a:t>
            </a:r>
            <a:r>
              <a:rPr>
                <a:solidFill>
                  <a:srgbClr val="C9CBCF"/>
                </a:solidFill>
              </a:rPr>
              <a:t> showDoneKey =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</a:t>
            </a:r>
            <a:r>
              <a:rPr>
                <a:solidFill>
                  <a:srgbClr val="6ABCFA"/>
                </a:solidFill>
              </a:rPr>
              <a:t>booleanPreferencesKey</a:t>
            </a:r>
            <a:r>
              <a:t>(</a:t>
            </a:r>
            <a:r>
              <a:rPr>
                <a:solidFill>
                  <a:srgbClr val="7AB684"/>
                </a:solidFill>
              </a:rPr>
              <a:t>"show_done"</a:t>
            </a:r>
            <a:r>
              <a:t>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</a:p>
          <a:p>
            <a:pPr defTabSz="896111">
              <a:spcBef>
                <a:spcPts val="200"/>
              </a:spcBef>
              <a:defRPr sz="1100">
                <a:solidFill>
                  <a:srgbClr val="929BA9"/>
                </a:solidFill>
              </a:defRPr>
            </a:pPr>
            <a:r>
              <a:t>// ler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D9A07E"/>
                </a:solidFill>
              </a:defRPr>
            </a:pPr>
            <a:r>
              <a:t>val</a:t>
            </a:r>
            <a:r>
              <a:rPr>
                <a:solidFill>
                  <a:srgbClr val="C9CBCF"/>
                </a:solidFill>
              </a:rPr>
              <a:t> showDone: Flow&lt;Boolean&gt; =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context.dataStore.data.</a:t>
            </a:r>
            <a:r>
              <a:rPr>
                <a:solidFill>
                  <a:srgbClr val="6ABCFA"/>
                </a:solidFill>
              </a:rPr>
              <a:t>map</a:t>
            </a:r>
            <a:r>
              <a:t> { prefs -&gt;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prefs[showDoneKey] ?: </a:t>
            </a:r>
            <a:r>
              <a:rPr>
                <a:solidFill>
                  <a:srgbClr val="D9A07E"/>
                </a:solidFill>
              </a:rPr>
              <a:t>true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}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</a:p>
          <a:p>
            <a:pPr defTabSz="896111">
              <a:spcBef>
                <a:spcPts val="200"/>
              </a:spcBef>
              <a:defRPr sz="1100">
                <a:solidFill>
                  <a:srgbClr val="929BA9"/>
                </a:solidFill>
              </a:defRPr>
            </a:pPr>
            <a:r>
              <a:t>// escrever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D9A07E"/>
                </a:solidFill>
              </a:defRPr>
            </a:pPr>
            <a:r>
              <a:t>suspend</a:t>
            </a:r>
            <a:r>
              <a:rPr>
                <a:solidFill>
                  <a:srgbClr val="C9CBCF"/>
                </a:solidFill>
              </a:rPr>
              <a:t> </a:t>
            </a:r>
            <a:r>
              <a:t>fun</a:t>
            </a:r>
            <a:r>
              <a:rPr>
                <a:solidFill>
                  <a:srgbClr val="C9CBCF"/>
                </a:solidFill>
              </a:rPr>
              <a:t> </a:t>
            </a:r>
            <a:r>
              <a:rPr>
                <a:solidFill>
                  <a:srgbClr val="6ABCFA"/>
                </a:solidFill>
              </a:rPr>
              <a:t>setShowDone</a:t>
            </a:r>
            <a:r>
              <a:rPr>
                <a:solidFill>
                  <a:srgbClr val="C9CBCF"/>
                </a:solidFill>
              </a:rPr>
              <a:t>(value: Boolean) {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context.dataStore.</a:t>
            </a:r>
            <a:r>
              <a:rPr>
                <a:solidFill>
                  <a:srgbClr val="6ABCFA"/>
                </a:solidFill>
              </a:rPr>
              <a:t>edit</a:t>
            </a:r>
            <a:r>
              <a:t> { prefs -&gt;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prefs[showDoneKey] = value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}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}</a:t>
            </a:r>
          </a:p>
        </p:txBody>
      </p:sp>
      <p:sp>
        <p:nvSpPr>
          <p:cNvPr id="160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Ficheiros internos</a:t>
            </a:r>
          </a:p>
        </p:txBody>
      </p:sp>
      <p:sp>
        <p:nvSpPr>
          <p:cNvPr id="163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São ficheiros normais, como texto, JSON ou imagens, que a app guarda na sua pasta privada.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Há duas pastas: filesDir, para ficheiros que devem ficar guardados, e cacheDir, para ficheiros temporários que o sistema pode apagar se faltar espaço.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Um ficheiro só guarda texto: para guardar objetos, primeiro convertemo-los em texto, por exemplo em JSON.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Ler e escrever ficheiros pode demorar, por isso faz-se em segundo plano, para não bloquear o ecrã.</a:t>
            </a:r>
          </a:p>
          <a:p>
            <a:pPr marL="285750" indent="-285750">
              <a:buSzPct val="100000"/>
              <a:buFont typeface="Arial"/>
              <a:buChar char="•"/>
              <a:defRPr sz="1500"/>
            </a:pPr>
            <a:r>
              <a:t>Usam-se para guardar um conjunto de dados de uma vez, como um backup ou uma exportação. Não servem para alterar ou pesquisar um dado no meio de muitos; para isso usa-se uma base de dados.</a:t>
            </a:r>
          </a:p>
        </p:txBody>
      </p:sp>
      <p:sp>
        <p:nvSpPr>
          <p:cNvPr id="164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 · BackupStore.kt (excerto)</a:t>
            </a:r>
          </a:p>
        </p:txBody>
      </p:sp>
      <p:sp>
        <p:nvSpPr>
          <p:cNvPr id="165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896111">
              <a:spcBef>
                <a:spcPts val="200"/>
              </a:spcBef>
              <a:defRPr sz="1100">
                <a:solidFill>
                  <a:srgbClr val="D9A07E"/>
                </a:solidFill>
              </a:defRPr>
            </a:pPr>
            <a:r>
              <a:t>suspend</a:t>
            </a:r>
            <a:r>
              <a:rPr>
                <a:solidFill>
                  <a:srgbClr val="C9CBCF"/>
                </a:solidFill>
              </a:rPr>
              <a:t> </a:t>
            </a:r>
            <a:r>
              <a:t>fun</a:t>
            </a:r>
            <a:r>
              <a:rPr>
                <a:solidFill>
                  <a:srgbClr val="C9CBCF"/>
                </a:solidFill>
              </a:rPr>
              <a:t> </a:t>
            </a:r>
            <a:r>
              <a:rPr>
                <a:solidFill>
                  <a:srgbClr val="6ABCFA"/>
                </a:solidFill>
              </a:rPr>
              <a:t>export</a:t>
            </a:r>
            <a:r>
              <a:rPr>
                <a:solidFill>
                  <a:srgbClr val="C9CBCF"/>
                </a:solidFill>
              </a:rPr>
              <a:t>(tasks: List&lt;Task&gt;): Int =</a:t>
            </a:r>
            <a:endParaRPr>
              <a:solidFill>
                <a:srgbClr val="C9CBCF"/>
              </a:solidFill>
            </a:endParaRP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</a:t>
            </a:r>
            <a:r>
              <a:rPr>
                <a:solidFill>
                  <a:srgbClr val="6ABCFA"/>
                </a:solidFill>
              </a:rPr>
              <a:t>withContext</a:t>
            </a:r>
            <a:r>
              <a:t>(Dispatchers.IO) {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</a:t>
            </a:r>
            <a:r>
              <a:rPr>
                <a:solidFill>
                  <a:srgbClr val="929BA9"/>
                </a:solidFill>
              </a:rPr>
              <a:t>// converter a lista em JSON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</a:t>
            </a:r>
            <a:r>
              <a:rPr>
                <a:solidFill>
                  <a:srgbClr val="D9A07E"/>
                </a:solidFill>
              </a:rPr>
              <a:t>val</a:t>
            </a:r>
            <a:r>
              <a:t> json = </a:t>
            </a:r>
            <a:r>
              <a:rPr>
                <a:solidFill>
                  <a:srgbClr val="6ABCFA"/>
                </a:solidFill>
              </a:rPr>
              <a:t>JSONArray</a:t>
            </a:r>
            <a:r>
              <a:t>()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tasks.</a:t>
            </a:r>
            <a:r>
              <a:rPr>
                <a:solidFill>
                  <a:srgbClr val="6ABCFA"/>
                </a:solidFill>
              </a:rPr>
              <a:t>forEach</a:t>
            </a:r>
            <a:r>
              <a:t> { t -&gt;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json.</a:t>
            </a:r>
            <a:r>
              <a:rPr>
                <a:solidFill>
                  <a:srgbClr val="6ABCFA"/>
                </a:solidFill>
              </a:rPr>
              <a:t>put</a:t>
            </a:r>
            <a:r>
              <a:t>(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    </a:t>
            </a:r>
            <a:r>
              <a:rPr>
                <a:solidFill>
                  <a:srgbClr val="6ABCFA"/>
                </a:solidFill>
              </a:rPr>
              <a:t>JSONObject</a:t>
            </a:r>
            <a:r>
              <a:t>()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        .</a:t>
            </a:r>
            <a:r>
              <a:rPr>
                <a:solidFill>
                  <a:srgbClr val="6ABCFA"/>
                </a:solidFill>
              </a:rPr>
              <a:t>put</a:t>
            </a:r>
            <a:r>
              <a:t>(</a:t>
            </a:r>
            <a:r>
              <a:rPr>
                <a:solidFill>
                  <a:srgbClr val="7AB684"/>
                </a:solidFill>
              </a:rPr>
              <a:t>"id"</a:t>
            </a:r>
            <a:r>
              <a:t>, t.id)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        .</a:t>
            </a:r>
            <a:r>
              <a:rPr>
                <a:solidFill>
                  <a:srgbClr val="6ABCFA"/>
                </a:solidFill>
              </a:rPr>
              <a:t>put</a:t>
            </a:r>
            <a:r>
              <a:t>(</a:t>
            </a:r>
            <a:r>
              <a:rPr>
                <a:solidFill>
                  <a:srgbClr val="7AB684"/>
                </a:solidFill>
              </a:rPr>
              <a:t>"title"</a:t>
            </a:r>
            <a:r>
              <a:t>, t.title)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        .</a:t>
            </a:r>
            <a:r>
              <a:rPr>
                <a:solidFill>
                  <a:srgbClr val="6ABCFA"/>
                </a:solidFill>
              </a:rPr>
              <a:t>put</a:t>
            </a:r>
            <a:r>
              <a:t>(</a:t>
            </a:r>
            <a:r>
              <a:rPr>
                <a:solidFill>
                  <a:srgbClr val="7AB684"/>
                </a:solidFill>
              </a:rPr>
              <a:t>"done"</a:t>
            </a:r>
            <a:r>
              <a:t>, t.done)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        .</a:t>
            </a:r>
            <a:r>
              <a:rPr>
                <a:solidFill>
                  <a:srgbClr val="6ABCFA"/>
                </a:solidFill>
              </a:rPr>
              <a:t>put</a:t>
            </a:r>
            <a:r>
              <a:t>(</a:t>
            </a:r>
            <a:r>
              <a:rPr>
                <a:solidFill>
                  <a:srgbClr val="7AB684"/>
                </a:solidFill>
              </a:rPr>
              <a:t>"createdAt"</a:t>
            </a:r>
            <a:r>
              <a:t>, t.createdAt)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}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</a:t>
            </a:r>
            <a:r>
              <a:rPr>
                <a:solidFill>
                  <a:srgbClr val="929BA9"/>
                </a:solidFill>
              </a:rPr>
              <a:t>// gravar em filesDir/backup.json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</a:t>
            </a:r>
            <a:r>
              <a:rPr>
                <a:solidFill>
                  <a:srgbClr val="6ABCFA"/>
                </a:solidFill>
              </a:rPr>
              <a:t>File</a:t>
            </a:r>
            <a:r>
              <a:t>(filesDir, FILE_NAME)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    .</a:t>
            </a:r>
            <a:r>
              <a:rPr>
                <a:solidFill>
                  <a:srgbClr val="6ABCFA"/>
                </a:solidFill>
              </a:rPr>
              <a:t>writeText</a:t>
            </a:r>
            <a:r>
              <a:t>(json.</a:t>
            </a:r>
            <a:r>
              <a:rPr>
                <a:solidFill>
                  <a:srgbClr val="6ABCFA"/>
                </a:solidFill>
              </a:rPr>
              <a:t>toString</a:t>
            </a:r>
            <a:r>
              <a:t>(</a:t>
            </a:r>
            <a:r>
              <a:rPr>
                <a:solidFill>
                  <a:srgbClr val="30BBC6"/>
                </a:solidFill>
              </a:rPr>
              <a:t>2</a:t>
            </a:r>
            <a:r>
              <a:t>))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    tasks.size</a:t>
            </a:r>
          </a:p>
          <a:p>
            <a:pPr defTabSz="896111">
              <a:spcBef>
                <a:spcPts val="200"/>
              </a:spcBef>
              <a:defRPr sz="1100">
                <a:solidFill>
                  <a:srgbClr val="C9CBCF"/>
                </a:solidFill>
              </a:defRPr>
            </a:pPr>
            <a:r>
              <a:t>    }</a:t>
            </a:r>
          </a:p>
        </p:txBody>
      </p:sp>
      <p:sp>
        <p:nvSpPr>
          <p:cNvPr id="166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SQLite vs Room</a:t>
            </a:r>
          </a:p>
        </p:txBody>
      </p:sp>
      <p:sp>
        <p:nvSpPr>
          <p:cNvPr id="169" name="Text 3"/>
          <p:cNvSpPr txBox="1"/>
          <p:nvPr>
            <p:ph type="body" sz="quarter" idx="1"/>
          </p:nvPr>
        </p:nvSpPr>
        <p:spPr>
          <a:xfrm>
            <a:off x="752998" y="1508760"/>
            <a:ext cx="2743208" cy="365767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SQLite</a:t>
            </a:r>
          </a:p>
        </p:txBody>
      </p:sp>
      <p:sp>
        <p:nvSpPr>
          <p:cNvPr id="170" name="Text 3"/>
          <p:cNvSpPr/>
          <p:nvPr>
            <p:ph type="body" idx="21"/>
          </p:nvPr>
        </p:nvSpPr>
        <p:spPr>
          <a:xfrm>
            <a:off x="754639" y="1897377"/>
            <a:ext cx="5028683" cy="306324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class </a:t>
            </a:r>
            <a:r>
              <a:rPr>
                <a:solidFill>
                  <a:srgbClr val="BDBFC4"/>
                </a:solidFill>
              </a:rPr>
              <a:t>DbHelper(context: Context) :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SQLiteOpenHelper(context, </a:t>
            </a:r>
            <a:r>
              <a:rPr>
                <a:solidFill>
                  <a:srgbClr val="69AA71"/>
                </a:solidFill>
              </a:rPr>
              <a:t>"tarefas.db"</a:t>
            </a:r>
            <a:r>
              <a:t>, </a:t>
            </a:r>
            <a:r>
              <a:rPr>
                <a:solidFill>
                  <a:srgbClr val="CF8E6B"/>
                </a:solidFill>
              </a:rPr>
              <a:t>null</a:t>
            </a:r>
            <a:r>
              <a:t>, </a:t>
            </a:r>
            <a:r>
              <a:rPr>
                <a:solidFill>
                  <a:srgbClr val="2BAEB9"/>
                </a:solidFill>
              </a:rPr>
              <a:t>1</a:t>
            </a:r>
            <a:r>
              <a:t>) {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override fun </a:t>
            </a:r>
            <a:r>
              <a:rPr>
                <a:solidFill>
                  <a:srgbClr val="5AACF8"/>
                </a:solidFill>
              </a:rPr>
              <a:t>onCreate</a:t>
            </a:r>
            <a:r>
              <a:t>(db: SQLiteDatabase) {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db.execSQL(</a:t>
            </a:r>
            <a:r>
              <a:rPr>
                <a:solidFill>
                  <a:srgbClr val="69AA71"/>
                </a:solidFill>
              </a:rPr>
              <a:t>"CREATE TABLE tasks (" </a:t>
            </a:r>
            <a:r>
              <a:t>+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69AA71"/>
                </a:solidFill>
              </a:rPr>
              <a:t>"id INTEGER PRIMARY KEY, " </a:t>
            </a:r>
            <a:r>
              <a:t>+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69AA71"/>
                </a:solidFill>
              </a:rPr>
              <a:t>"title TEXT, done INTEGER)"</a:t>
            </a:r>
            <a:r>
              <a:t>)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}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override fun </a:t>
            </a:r>
            <a:r>
              <a:rPr>
                <a:solidFill>
                  <a:srgbClr val="5AACF8"/>
                </a:solidFill>
              </a:rPr>
              <a:t>onUpgrade</a:t>
            </a:r>
            <a:r>
              <a:t>(db: SQLiteDatabase,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old: Int, new: Int) { }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val </a:t>
            </a:r>
            <a:r>
              <a:rPr i="1">
                <a:solidFill>
                  <a:srgbClr val="C87EBB"/>
                </a:solidFill>
              </a:rPr>
              <a:t>c </a:t>
            </a:r>
            <a:r>
              <a:rPr>
                <a:solidFill>
                  <a:srgbClr val="BDBFC4"/>
                </a:solidFill>
              </a:rPr>
              <a:t>= db.rawQuery(</a:t>
            </a:r>
            <a:r>
              <a:rPr>
                <a:solidFill>
                  <a:srgbClr val="69AA71"/>
                </a:solidFill>
              </a:rPr>
              <a:t>"SELECT * FROM tasks"</a:t>
            </a:r>
            <a:r>
              <a:rPr>
                <a:solidFill>
                  <a:srgbClr val="BDBFC4"/>
                </a:solidFill>
              </a:rPr>
              <a:t>, </a:t>
            </a:r>
            <a:r>
              <a:t>null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while </a:t>
            </a:r>
            <a:r>
              <a:rPr>
                <a:solidFill>
                  <a:srgbClr val="BDBFC4"/>
                </a:solidFill>
              </a:rPr>
              <a:t>(c.moveToNext()) {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t>title = </a:t>
            </a:r>
            <a:r>
              <a:rPr i="1">
                <a:solidFill>
                  <a:srgbClr val="C87EBB"/>
                </a:solidFill>
              </a:rPr>
              <a:t>c</a:t>
            </a:r>
            <a:r>
              <a:t>.getString(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 i="1">
                <a:solidFill>
                  <a:srgbClr val="C87EBB"/>
                </a:solidFill>
              </a:rPr>
              <a:t>c</a:t>
            </a:r>
            <a:r>
              <a:t>.getColumnIndexOrThrow(</a:t>
            </a:r>
            <a:r>
              <a:rPr>
                <a:solidFill>
                  <a:srgbClr val="69AA71"/>
                </a:solidFill>
              </a:rPr>
              <a:t>"title"</a:t>
            </a:r>
            <a:r>
              <a:t>))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c.close()</a:t>
            </a:r>
          </a:p>
        </p:txBody>
      </p:sp>
      <p:sp>
        <p:nvSpPr>
          <p:cNvPr id="171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Room</a:t>
            </a:r>
          </a:p>
        </p:txBody>
      </p:sp>
      <p:sp>
        <p:nvSpPr>
          <p:cNvPr id="172" name="Text 3"/>
          <p:cNvSpPr/>
          <p:nvPr>
            <p:ph type="body" idx="23"/>
          </p:nvPr>
        </p:nvSpPr>
        <p:spPr>
          <a:xfrm>
            <a:off x="6378202" y="1897377"/>
            <a:ext cx="5028680" cy="306324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393190">
              <a:spcBef>
                <a:spcPts val="0"/>
              </a:spcBef>
              <a:defRPr sz="11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@Entity</a:t>
            </a:r>
            <a:r>
              <a:rPr>
                <a:solidFill>
                  <a:srgbClr val="BDBFC4"/>
                </a:solidFill>
              </a:rPr>
              <a:t>(tableName = </a:t>
            </a:r>
            <a:r>
              <a:rPr>
                <a:solidFill>
                  <a:srgbClr val="69AA71"/>
                </a:solidFill>
              </a:rPr>
              <a:t>"tasks"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 defTabSz="393190">
              <a:spcBef>
                <a:spcPts val="0"/>
              </a:spcBef>
              <a:defRPr sz="11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data class </a:t>
            </a:r>
            <a:r>
              <a:rPr>
                <a:solidFill>
                  <a:srgbClr val="BDBFC4"/>
                </a:solidFill>
              </a:rPr>
              <a:t>Task(</a:t>
            </a:r>
            <a:endParaRPr>
              <a:solidFill>
                <a:srgbClr val="BDBFC4"/>
              </a:solidFill>
            </a:endParaRP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@PrimaryKey</a:t>
            </a:r>
            <a:r>
              <a:t>(autoGenerate = </a:t>
            </a:r>
            <a:r>
              <a:rPr>
                <a:solidFill>
                  <a:srgbClr val="CF8E6B"/>
                </a:solidFill>
              </a:rPr>
              <a:t>true</a:t>
            </a:r>
            <a:r>
              <a:t>) 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id</a:t>
            </a:r>
            <a:r>
              <a:t>: Long = </a:t>
            </a:r>
            <a:r>
              <a:rPr>
                <a:solidFill>
                  <a:srgbClr val="2BAEB9"/>
                </a:solidFill>
              </a:rPr>
              <a:t>0</a:t>
            </a:r>
            <a:r>
              <a:t>,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title</a:t>
            </a:r>
            <a:r>
              <a:t>: String,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done</a:t>
            </a:r>
            <a:r>
              <a:t>: Boolean = </a:t>
            </a:r>
            <a:r>
              <a:rPr>
                <a:solidFill>
                  <a:srgbClr val="CF8E6B"/>
                </a:solidFill>
              </a:rPr>
              <a:t>false</a:t>
            </a:r>
            <a:endParaRPr>
              <a:solidFill>
                <a:srgbClr val="CF8E6B"/>
              </a:solidFill>
            </a:endParaRP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)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93190">
              <a:spcBef>
                <a:spcPts val="0"/>
              </a:spcBef>
              <a:defRPr sz="1100">
                <a:solidFill>
                  <a:srgbClr val="80899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/*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80899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 Room gera o CREATE TABLE a partir desta classe. 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80899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As linhas são convertidas em objetos Task.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80899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As consultas são feitas através de um DAO.</a:t>
            </a:r>
          </a:p>
          <a:p>
            <a:pPr defTabSz="393190">
              <a:spcBef>
                <a:spcPts val="0"/>
              </a:spcBef>
              <a:defRPr sz="1100">
                <a:solidFill>
                  <a:srgbClr val="80899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*/</a:t>
            </a:r>
          </a:p>
        </p:txBody>
      </p:sp>
      <p:sp>
        <p:nvSpPr>
          <p:cNvPr id="173" name="Text 3"/>
          <p:cNvSpPr/>
          <p:nvPr>
            <p:ph type="body" idx="24"/>
          </p:nvPr>
        </p:nvSpPr>
        <p:spPr>
          <a:xfrm>
            <a:off x="548636" y="5394959"/>
            <a:ext cx="5440690" cy="777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905255">
              <a:spcBef>
                <a:spcPts val="200"/>
              </a:spcBef>
              <a:defRPr b="1" sz="1500"/>
            </a:pPr>
            <a:r>
              <a:t>SQLite</a:t>
            </a:r>
            <a:r>
              <a:rPr b="0"/>
              <a:t>: SQL escrito manualmente em texto, cada linha é convertida com Cursor. Os erros de SQL só são detetados em tempo de execução.</a:t>
            </a:r>
          </a:p>
        </p:txBody>
      </p:sp>
      <p:sp>
        <p:nvSpPr>
          <p:cNvPr id="174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5" name="Text 3"/>
          <p:cNvSpPr txBox="1"/>
          <p:nvPr/>
        </p:nvSpPr>
        <p:spPr>
          <a:xfrm>
            <a:off x="6172196" y="5394959"/>
            <a:ext cx="5440691" cy="777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905255">
              <a:spcBef>
                <a:spcPts val="200"/>
              </a:spcBef>
              <a:defRPr b="1" sz="1500">
                <a:latin typeface="+mj-lt"/>
                <a:ea typeface="+mj-ea"/>
                <a:cs typeface="+mj-cs"/>
                <a:sym typeface="Calibri"/>
              </a:defRPr>
            </a:pPr>
            <a:r>
              <a:t>Room</a:t>
            </a:r>
            <a:r>
              <a:rPr b="0"/>
              <a:t>: tabela definida por uma classe. O SQL e a conversão para objetos são gerados automaticamente. As consultas são verificadas em tempo de compilação.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Entity e Database</a:t>
            </a:r>
          </a:p>
        </p:txBody>
      </p:sp>
      <p:sp>
        <p:nvSpPr>
          <p:cNvPr id="178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Uma Entity é uma classe anotada com @Entity. Cada instância corresponde a uma linha da tabela e cada propriedade a uma coluna.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 anotação @PrimaryKey define a chave primária. Com autoGenerate = true, o Room atribui o valor automaticamente.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 classe anotada com @Database indica as entidades que compõem a base de dados e disponibiliza os DAOs.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 base de dados é criada uma vez em toda a aplicação, o que evita o desperdício de recursos e inconsistências nos dados.</a:t>
            </a:r>
          </a:p>
        </p:txBody>
      </p:sp>
      <p:sp>
        <p:nvSpPr>
          <p:cNvPr id="179" name="Text 3"/>
          <p:cNvSpPr/>
          <p:nvPr>
            <p:ph type="body" idx="21"/>
          </p:nvPr>
        </p:nvSpPr>
        <p:spPr>
          <a:xfrm>
            <a:off x="6392719" y="1508760"/>
            <a:ext cx="2743203" cy="3657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</a:t>
            </a:r>
          </a:p>
        </p:txBody>
      </p:sp>
      <p:sp>
        <p:nvSpPr>
          <p:cNvPr id="180" name="Text 3"/>
          <p:cNvSpPr/>
          <p:nvPr>
            <p:ph type="body" idx="22"/>
          </p:nvPr>
        </p:nvSpPr>
        <p:spPr>
          <a:xfrm>
            <a:off x="6362293" y="1987437"/>
            <a:ext cx="5060492" cy="38404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@Entity</a:t>
            </a:r>
            <a:r>
              <a:rPr>
                <a:solidFill>
                  <a:srgbClr val="BDBFC4"/>
                </a:solidFill>
              </a:rPr>
              <a:t>(tableName = </a:t>
            </a:r>
            <a:r>
              <a:rPr>
                <a:solidFill>
                  <a:srgbClr val="69AA71"/>
                </a:solidFill>
              </a:rPr>
              <a:t>"tasks"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data class </a:t>
            </a:r>
            <a:r>
              <a:rPr>
                <a:solidFill>
                  <a:srgbClr val="BDBFC4"/>
                </a:solidFill>
              </a:rPr>
              <a:t>Task(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@PrimaryKey</a:t>
            </a:r>
            <a:r>
              <a:t>(autoGenerate = </a:t>
            </a:r>
            <a:r>
              <a:rPr>
                <a:solidFill>
                  <a:srgbClr val="CF8E6B"/>
                </a:solidFill>
              </a:rPr>
              <a:t>true</a:t>
            </a:r>
            <a:r>
              <a:t>)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id</a:t>
            </a:r>
            <a:r>
              <a:t>: Long = </a:t>
            </a:r>
            <a:r>
              <a:rPr>
                <a:solidFill>
                  <a:srgbClr val="2BAEB9"/>
                </a:solidFill>
              </a:rPr>
              <a:t>0</a:t>
            </a:r>
            <a:r>
              <a:t>,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title</a:t>
            </a:r>
            <a:r>
              <a:t>: String,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done</a:t>
            </a:r>
            <a:r>
              <a:t>: Boolean = </a:t>
            </a:r>
            <a:r>
              <a:rPr>
                <a:solidFill>
                  <a:srgbClr val="CF8E6B"/>
                </a:solidFill>
              </a:rPr>
              <a:t>false</a:t>
            </a:r>
            <a:r>
              <a:t>,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val </a:t>
            </a:r>
            <a:r>
              <a:rPr>
                <a:solidFill>
                  <a:srgbClr val="C87EBB"/>
                </a:solidFill>
              </a:rPr>
              <a:t>createdAt</a:t>
            </a:r>
            <a:r>
              <a:t>: Long = System.currentTimeMillis()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)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3AD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@Database</a:t>
            </a:r>
            <a:r>
              <a:rPr>
                <a:solidFill>
                  <a:srgbClr val="BDBFC4"/>
                </a:solidFill>
              </a:rPr>
              <a:t>(entities = [Task::</a:t>
            </a:r>
            <a:r>
              <a:rPr>
                <a:solidFill>
                  <a:srgbClr val="CF8E6C"/>
                </a:solidFill>
              </a:rPr>
              <a:t>class</a:t>
            </a:r>
            <a:r>
              <a:rPr>
                <a:solidFill>
                  <a:srgbClr val="BDBFC4"/>
                </a:solidFill>
              </a:rPr>
              <a:t>], version = </a:t>
            </a:r>
            <a:r>
              <a:rPr>
                <a:solidFill>
                  <a:srgbClr val="2AADB9"/>
                </a:solidFill>
              </a:rPr>
              <a:t>1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abstract class </a:t>
            </a:r>
            <a:r>
              <a:rPr>
                <a:solidFill>
                  <a:srgbClr val="BDBFC4"/>
                </a:solidFill>
              </a:rPr>
              <a:t>AppDatabase : RoomDatabase() {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C"/>
                </a:solidFill>
              </a:rPr>
              <a:t>abstract fun </a:t>
            </a:r>
            <a:r>
              <a:rPr>
                <a:solidFill>
                  <a:srgbClr val="58AAF6"/>
                </a:solidFill>
              </a:rPr>
              <a:t>taskDao</a:t>
            </a:r>
            <a:r>
              <a:t>(): TaskDao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val </a:t>
            </a:r>
            <a:r>
              <a:rPr i="1">
                <a:solidFill>
                  <a:srgbClr val="C87EBB"/>
                </a:solidFill>
              </a:rPr>
              <a:t>database </a:t>
            </a:r>
            <a:r>
              <a:rPr>
                <a:solidFill>
                  <a:srgbClr val="BDBFC4"/>
                </a:solidFill>
              </a:rPr>
              <a:t>= Room.databaseBuilder(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C"/>
                </a:solidFill>
              </a:rPr>
              <a:t>this</a:t>
            </a:r>
            <a:r>
              <a:t>, AppDatabase::</a:t>
            </a:r>
            <a:r>
              <a:rPr>
                <a:solidFill>
                  <a:srgbClr val="CF8E6C"/>
                </a:solidFill>
              </a:rPr>
              <a:t>class</a:t>
            </a:r>
            <a:r>
              <a:t>.</a:t>
            </a:r>
            <a:r>
              <a:rPr i="1">
                <a:solidFill>
                  <a:srgbClr val="C87EBB"/>
                </a:solidFill>
              </a:rPr>
              <a:t>java</a:t>
            </a:r>
            <a:r>
              <a:t>, </a:t>
            </a:r>
            <a:r>
              <a:rPr>
                <a:solidFill>
                  <a:srgbClr val="69AB72"/>
                </a:solidFill>
              </a:rPr>
              <a:t>"tarefas.db"</a:t>
            </a:r>
            <a:endParaRPr>
              <a:solidFill>
                <a:srgbClr val="69AB72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).build()</a:t>
            </a:r>
          </a:p>
        </p:txBody>
      </p:sp>
      <p:sp>
        <p:nvSpPr>
          <p:cNvPr id="181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Migrações da base de dados</a:t>
            </a:r>
          </a:p>
        </p:txBody>
      </p:sp>
      <p:sp>
        <p:nvSpPr>
          <p:cNvPr id="184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Ao atualizar a aplicação, a base de dados já instalada mantém a estrutura antiga.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Se o schema mudar sem migração, o Room deteta a diferença e a aplicação termina com erro.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Uma migração manual (classe Migration) define o SQL para passar de uma versão à seguinte, preservando os dados.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Alternativas: AutoMigration ou migração destrutiva, que apaga os dados e só deve ser usada em desenvolvimento.</a:t>
            </a:r>
          </a:p>
        </p:txBody>
      </p:sp>
      <p:sp>
        <p:nvSpPr>
          <p:cNvPr id="185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</a:t>
            </a:r>
          </a:p>
        </p:txBody>
      </p:sp>
      <p:sp>
        <p:nvSpPr>
          <p:cNvPr id="186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Novo campo na Entity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val </a:t>
            </a:r>
            <a:r>
              <a:rPr i="1">
                <a:solidFill>
                  <a:srgbClr val="C87EBB"/>
                </a:solidFill>
              </a:rPr>
              <a:t>priority</a:t>
            </a:r>
            <a:r>
              <a:rPr>
                <a:solidFill>
                  <a:srgbClr val="BDBFC4"/>
                </a:solidFill>
              </a:rPr>
              <a:t>: Int = </a:t>
            </a:r>
            <a:r>
              <a:rPr>
                <a:solidFill>
                  <a:srgbClr val="2AADB9"/>
                </a:solidFill>
              </a:rPr>
              <a:t>0</a:t>
            </a:r>
            <a:endParaRPr>
              <a:solidFill>
                <a:srgbClr val="2AADB9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2BADB9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Nova versão do schema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@Database</a:t>
            </a:r>
            <a:r>
              <a:rPr>
                <a:solidFill>
                  <a:srgbClr val="BDBFC4"/>
                </a:solidFill>
              </a:rPr>
              <a:t>(entities = [Task::</a:t>
            </a:r>
            <a:r>
              <a:rPr>
                <a:solidFill>
                  <a:srgbClr val="CF8E6C"/>
                </a:solidFill>
              </a:rPr>
              <a:t>class</a:t>
            </a:r>
            <a:r>
              <a:rPr>
                <a:solidFill>
                  <a:srgbClr val="BDBFC4"/>
                </a:solidFill>
              </a:rPr>
              <a:t>], version = </a:t>
            </a:r>
            <a:r>
              <a:rPr>
                <a:solidFill>
                  <a:srgbClr val="2AADB9"/>
                </a:solidFill>
              </a:rPr>
              <a:t>2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Definir a migração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val </a:t>
            </a:r>
            <a:r>
              <a:rPr i="1">
                <a:solidFill>
                  <a:srgbClr val="C87EBB"/>
                </a:solidFill>
              </a:rPr>
              <a:t>MIGRATION_1_2 </a:t>
            </a:r>
            <a:r>
              <a:rPr>
                <a:solidFill>
                  <a:srgbClr val="BDBFC4"/>
                </a:solidFill>
              </a:rPr>
              <a:t>= </a:t>
            </a:r>
            <a:r>
              <a:t>object </a:t>
            </a:r>
            <a:r>
              <a:rPr>
                <a:solidFill>
                  <a:srgbClr val="BDBFC4"/>
                </a:solidFill>
              </a:rPr>
              <a:t>: Migration(</a:t>
            </a:r>
            <a:r>
              <a:rPr>
                <a:solidFill>
                  <a:srgbClr val="2AADB9"/>
                </a:solidFill>
              </a:rPr>
              <a:t>1</a:t>
            </a:r>
            <a:r>
              <a:rPr>
                <a:solidFill>
                  <a:srgbClr val="BDBFC4"/>
                </a:solidFill>
              </a:rPr>
              <a:t>, </a:t>
            </a:r>
            <a:r>
              <a:rPr>
                <a:solidFill>
                  <a:srgbClr val="2AADB9"/>
                </a:solidFill>
              </a:rPr>
              <a:t>2</a:t>
            </a:r>
            <a:r>
              <a:rPr>
                <a:solidFill>
                  <a:srgbClr val="BDBFC4"/>
                </a:solidFill>
              </a:rPr>
              <a:t>) {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C"/>
                </a:solidFill>
              </a:rPr>
              <a:t>override fun </a:t>
            </a:r>
            <a:r>
              <a:rPr>
                <a:solidFill>
                  <a:srgbClr val="58AAF7"/>
                </a:solidFill>
              </a:rPr>
              <a:t>migrate</a:t>
            </a:r>
            <a:r>
              <a:t>(db: SupportSQLiteDatabase){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db.execSQL(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69AB72"/>
                </a:solidFill>
              </a:rPr>
              <a:t>"ALTER TABLE tasks ADD COLUMN " </a:t>
            </a:r>
            <a:r>
              <a:t>+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69AB72"/>
                </a:solidFill>
              </a:rPr>
              <a:t>"priority INTEGER NOT NULL DEFAULT 0"</a:t>
            </a:r>
            <a:r>
              <a:t>)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}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Registar a migração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Room.databaseBuilder(...)</a:t>
            </a:r>
          </a:p>
          <a:p>
            <a:pPr lvl="1" marL="0" indent="219453"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.addMigrations(MIGRATION_1_2)</a:t>
            </a:r>
          </a:p>
          <a:p>
            <a:pPr lvl="1" marL="0" indent="219453"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.build()</a:t>
            </a:r>
          </a:p>
        </p:txBody>
      </p:sp>
      <p:sp>
        <p:nvSpPr>
          <p:cNvPr id="187" name="Slide Number Placeholder 0"/>
          <p:cNvSpPr txBox="1"/>
          <p:nvPr>
            <p:ph type="sldNum" sz="quarter" idx="4294967295"/>
          </p:nvPr>
        </p:nvSpPr>
        <p:spPr>
          <a:xfrm>
            <a:off x="11444371" y="6400798"/>
            <a:ext cx="168505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O DAO e as operações CRUD</a:t>
            </a:r>
          </a:p>
        </p:txBody>
      </p:sp>
      <p:sp>
        <p:nvSpPr>
          <p:cNvPr id="190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O DAO é uma interface anotada com @Dao.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Cada anotação é uma operação CRUD: @Insert cria, @Query lê, @Update atualiza e @Delete elimina.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Uma @Query que devolve um Flow emite os dados de novo sempre que a tabela muda, por isso o ecrã atualiza-se sozinho.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As funções de escrita utilizam suspend, e o Room executa-as numa thread de fundo, sem bloquear o ecrã.</a:t>
            </a:r>
          </a:p>
        </p:txBody>
      </p:sp>
      <p:sp>
        <p:nvSpPr>
          <p:cNvPr id="191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</a:t>
            </a:r>
          </a:p>
        </p:txBody>
      </p:sp>
      <p:sp>
        <p:nvSpPr>
          <p:cNvPr id="192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@Dao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interface </a:t>
            </a:r>
            <a:r>
              <a:rPr>
                <a:solidFill>
                  <a:srgbClr val="BDBFC4"/>
                </a:solidFill>
              </a:rPr>
              <a:t>TaskDao {</a:t>
            </a:r>
            <a:endParaRPr>
              <a:solidFill>
                <a:srgbClr val="BDBFC4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@Query</a:t>
            </a:r>
            <a:r>
              <a:t>(</a:t>
            </a:r>
            <a:r>
              <a:rPr>
                <a:solidFill>
                  <a:srgbClr val="69AA71"/>
                </a:solidFill>
              </a:rPr>
              <a:t>"SELECT * FROM tasks ..."</a:t>
            </a:r>
            <a:r>
              <a:t>)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fun </a:t>
            </a:r>
            <a:r>
              <a:rPr>
                <a:solidFill>
                  <a:srgbClr val="59ABF8"/>
                </a:solidFill>
              </a:rPr>
              <a:t>observeAll</a:t>
            </a:r>
            <a:r>
              <a:t>(): Flow&lt;List&lt;Task&gt;&gt;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@Insert</a:t>
            </a:r>
            <a:endParaRPr>
              <a:solidFill>
                <a:srgbClr val="B2AD5E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insert</a:t>
            </a:r>
            <a:r>
              <a:rPr>
                <a:solidFill>
                  <a:srgbClr val="BDBFC4"/>
                </a:solidFill>
              </a:rPr>
              <a:t>(task: Task): Long</a:t>
            </a:r>
            <a:endParaRPr>
              <a:solidFill>
                <a:srgbClr val="BDBFC4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@Update</a:t>
            </a:r>
            <a:endParaRPr>
              <a:solidFill>
                <a:srgbClr val="B2AD5E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update</a:t>
            </a:r>
            <a:r>
              <a:rPr>
                <a:solidFill>
                  <a:srgbClr val="BDBFC4"/>
                </a:solidFill>
              </a:rPr>
              <a:t>(task: Task)</a:t>
            </a:r>
            <a:endParaRPr>
              <a:solidFill>
                <a:srgbClr val="BDBFC4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@Delete</a:t>
            </a:r>
            <a:endParaRPr>
              <a:solidFill>
                <a:srgbClr val="B2AD5E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delete</a:t>
            </a:r>
            <a:r>
              <a:rPr>
                <a:solidFill>
                  <a:srgbClr val="BDBFC4"/>
                </a:solidFill>
              </a:rPr>
              <a:t>(task: Task)</a:t>
            </a:r>
            <a:endParaRPr>
              <a:solidFill>
                <a:srgbClr val="BDBFC4"/>
              </a:solidFill>
            </a:endParaR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193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DAO em Kotlin e em Java</a:t>
            </a:r>
          </a:p>
        </p:txBody>
      </p:sp>
      <p:sp>
        <p:nvSpPr>
          <p:cNvPr id="196" name="Text 3"/>
          <p:cNvSpPr txBox="1"/>
          <p:nvPr>
            <p:ph type="body" sz="quarter" idx="1"/>
          </p:nvPr>
        </p:nvSpPr>
        <p:spPr>
          <a:xfrm>
            <a:off x="777240" y="1418638"/>
            <a:ext cx="2743201" cy="365767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Kotlin</a:t>
            </a:r>
          </a:p>
        </p:txBody>
      </p:sp>
      <p:sp>
        <p:nvSpPr>
          <p:cNvPr id="197" name="Text 3"/>
          <p:cNvSpPr/>
          <p:nvPr>
            <p:ph type="body" idx="21"/>
          </p:nvPr>
        </p:nvSpPr>
        <p:spPr>
          <a:xfrm>
            <a:off x="777240" y="1786726"/>
            <a:ext cx="4983480" cy="3379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TaskDao.kt (Flow, suspend)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@Dao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interface </a:t>
            </a:r>
            <a:r>
              <a:rPr>
                <a:solidFill>
                  <a:srgbClr val="BDBFC4"/>
                </a:solidFill>
              </a:rPr>
              <a:t>TaskDao {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@Query</a:t>
            </a:r>
            <a:r>
              <a:t>(</a:t>
            </a:r>
            <a:r>
              <a:rPr>
                <a:solidFill>
                  <a:srgbClr val="69AA71"/>
                </a:solidFill>
              </a:rPr>
              <a:t>"SELECT * FROM tasks ORDER BY done,</a:t>
            </a:r>
            <a:endParaRPr>
              <a:solidFill>
                <a:srgbClr val="69AA71"/>
              </a:solidFill>
            </a:endParaRPr>
          </a:p>
          <a:p>
            <a:pPr lvl="5" marL="0" indent="1097280"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69AA7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createdAt DESC"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fun </a:t>
            </a:r>
            <a:r>
              <a:rPr>
                <a:solidFill>
                  <a:srgbClr val="59ABF8"/>
                </a:solidFill>
              </a:rPr>
              <a:t>observeAll</a:t>
            </a:r>
            <a:r>
              <a:t>(): Flow&lt;List&lt;Task&gt;&gt;</a:t>
            </a: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@Insert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insert</a:t>
            </a:r>
            <a:r>
              <a:rPr>
                <a:solidFill>
                  <a:srgbClr val="BDBFC4"/>
                </a:solidFill>
              </a:rPr>
              <a:t>(task: Task)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@Update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update</a:t>
            </a:r>
            <a:r>
              <a:rPr>
                <a:solidFill>
                  <a:srgbClr val="BDBFC4"/>
                </a:solidFill>
              </a:rPr>
              <a:t>(task: Task)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@Delete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delete</a:t>
            </a:r>
            <a:r>
              <a:rPr>
                <a:solidFill>
                  <a:srgbClr val="BDBFC4"/>
                </a:solidFill>
              </a:rPr>
              <a:t>(task: Task)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2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198" name="Text 3"/>
          <p:cNvSpPr/>
          <p:nvPr>
            <p:ph type="body" idx="22"/>
          </p:nvPr>
        </p:nvSpPr>
        <p:spPr>
          <a:xfrm>
            <a:off x="6400800" y="1418638"/>
            <a:ext cx="2743200" cy="3657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Java</a:t>
            </a:r>
          </a:p>
        </p:txBody>
      </p:sp>
      <p:sp>
        <p:nvSpPr>
          <p:cNvPr id="199" name="Text 3"/>
          <p:cNvSpPr/>
          <p:nvPr>
            <p:ph type="body" idx="23"/>
          </p:nvPr>
        </p:nvSpPr>
        <p:spPr>
          <a:xfrm>
            <a:off x="6400800" y="1747814"/>
            <a:ext cx="4983480" cy="3457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TaskDao.java (LiveData, síncrono)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@Dao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CF8E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public interface </a:t>
            </a:r>
            <a:r>
              <a:rPr>
                <a:solidFill>
                  <a:srgbClr val="BDBFC4"/>
                </a:solidFill>
              </a:rPr>
              <a:t>TaskDao {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@Query</a:t>
            </a:r>
            <a:r>
              <a:t>(</a:t>
            </a:r>
            <a:r>
              <a:rPr>
                <a:solidFill>
                  <a:srgbClr val="69AA71"/>
                </a:solidFill>
              </a:rPr>
              <a:t>"SELECT * FROM tasks ORDER BY done,</a:t>
            </a:r>
            <a:endParaRPr>
              <a:solidFill>
                <a:srgbClr val="69AA71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69AA7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createdAt DESC"</a:t>
            </a:r>
            <a:r>
              <a:rPr>
                <a:solidFill>
                  <a:srgbClr val="BDBFC4"/>
                </a:solidFill>
              </a:rPr>
              <a:t>)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LiveData&lt;List&lt;Task&gt;&gt; </a:t>
            </a:r>
            <a:r>
              <a:rPr>
                <a:solidFill>
                  <a:srgbClr val="59ABF8"/>
                </a:solidFill>
              </a:rPr>
              <a:t>observeAll</a:t>
            </a:r>
            <a:r>
              <a:t>();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@Insert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void </a:t>
            </a:r>
            <a:r>
              <a:rPr>
                <a:solidFill>
                  <a:srgbClr val="59ABF8"/>
                </a:solidFill>
              </a:rPr>
              <a:t>insert</a:t>
            </a:r>
            <a:r>
              <a:rPr>
                <a:solidFill>
                  <a:srgbClr val="BDBFC4"/>
                </a:solidFill>
              </a:rPr>
              <a:t>(Task task);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@Update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void </a:t>
            </a:r>
            <a:r>
              <a:rPr>
                <a:solidFill>
                  <a:srgbClr val="59ABF8"/>
                </a:solidFill>
              </a:rPr>
              <a:t>update</a:t>
            </a:r>
            <a:r>
              <a:rPr>
                <a:solidFill>
                  <a:srgbClr val="BDBFC4"/>
                </a:solidFill>
              </a:rPr>
              <a:t>(Task task);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B2AD5E"/>
                </a:solidFill>
              </a:rPr>
              <a:t>@Delete</a:t>
            </a:r>
            <a:endParaRPr>
              <a:solidFill>
                <a:srgbClr val="B2AD5E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CF8E6B"/>
                </a:solidFill>
              </a:rPr>
              <a:t>void </a:t>
            </a:r>
            <a:r>
              <a:rPr>
                <a:solidFill>
                  <a:srgbClr val="59ABF8"/>
                </a:solidFill>
              </a:rPr>
              <a:t>delete</a:t>
            </a:r>
            <a:r>
              <a:rPr>
                <a:solidFill>
                  <a:srgbClr val="BDBFC4"/>
                </a:solidFill>
              </a:rPr>
              <a:t>(Task task);</a:t>
            </a:r>
            <a:endParaRPr>
              <a:solidFill>
                <a:srgbClr val="BDBFC4"/>
              </a:solidFill>
            </a:endParaR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Chamada fora da main thread</a:t>
            </a:r>
          </a:p>
          <a:p>
            <a:pPr>
              <a:spcBef>
                <a:spcPts val="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1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executor.</a:t>
            </a:r>
            <a:r>
              <a:rPr>
                <a:solidFill>
                  <a:srgbClr val="59ABF8"/>
                </a:solidFill>
              </a:rPr>
              <a:t>execute</a:t>
            </a:r>
            <a:r>
              <a:t>(() -&gt; dao.</a:t>
            </a:r>
            <a:r>
              <a:rPr>
                <a:solidFill>
                  <a:srgbClr val="59ABF8"/>
                </a:solidFill>
              </a:rPr>
              <a:t>insert</a:t>
            </a:r>
            <a:r>
              <a:t>(task));</a:t>
            </a:r>
          </a:p>
        </p:txBody>
      </p:sp>
      <p:sp>
        <p:nvSpPr>
          <p:cNvPr id="200" name="Text 3"/>
          <p:cNvSpPr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As anotações do Room são iguais em Kotlin e em Java. A diferença está no tipo de retorno: em Kotlin usa-se Flow e funções suspend, em Java usa-se LiveData e as escritas têm de ser enviadas para outra thread.</a:t>
            </a:r>
          </a:p>
        </p:txBody>
      </p:sp>
      <p:sp>
        <p:nvSpPr>
          <p:cNvPr id="201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Fluxo de uma operação CRUD</a:t>
            </a:r>
          </a:p>
        </p:txBody>
      </p:sp>
      <p:sp>
        <p:nvSpPr>
          <p:cNvPr id="204" name="Text 3"/>
          <p:cNvSpPr txBox="1"/>
          <p:nvPr>
            <p:ph type="body" sz="half" idx="1"/>
          </p:nvPr>
        </p:nvSpPr>
        <p:spPr>
          <a:xfrm>
            <a:off x="822955" y="1600194"/>
            <a:ext cx="4892052" cy="42062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Uma ação do utilizador, como carregar num botão, lança uma coroutine com lifecycleScope.launch, que chama a função do DAO.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O Room grava os dados numa thread em segundo plano, sem bloquear o ecrã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 @Query com Flow emite os dados atualizados, e o ecrã mostra-os sem código extra.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A coroutine é cancelada automaticamente quando a Activity fecha.</a:t>
            </a:r>
          </a:p>
        </p:txBody>
      </p:sp>
      <p:sp>
        <p:nvSpPr>
          <p:cNvPr id="205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Kotlin</a:t>
            </a:r>
          </a:p>
        </p:txBody>
      </p:sp>
      <p:sp>
        <p:nvSpPr>
          <p:cNvPr id="206" name="Text 3"/>
          <p:cNvSpPr/>
          <p:nvPr>
            <p:ph type="body" idx="22"/>
          </p:nvPr>
        </p:nvSpPr>
        <p:spPr>
          <a:xfrm>
            <a:off x="6400800" y="1838122"/>
            <a:ext cx="4983480" cy="40140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1. Ecrã: o utilizador carrega em Adicionar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F8E6B"/>
                </a:solidFill>
              </a:rPr>
              <a:t>val </a:t>
            </a:r>
            <a:r>
              <a:rPr i="1">
                <a:solidFill>
                  <a:srgbClr val="C87EBB"/>
                </a:solidFill>
              </a:rPr>
              <a:t>texto </a:t>
            </a:r>
            <a:r>
              <a:t>= binding.etTarefa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.text.</a:t>
            </a:r>
            <a:r>
              <a:rPr i="1">
                <a:solidFill>
                  <a:srgbClr val="5AADFA"/>
                </a:solidFill>
              </a:rPr>
              <a:t>toString</a:t>
            </a:r>
            <a:r>
              <a:t>().</a:t>
            </a:r>
            <a:r>
              <a:rPr i="1">
                <a:solidFill>
                  <a:srgbClr val="5AADFA"/>
                </a:solidFill>
              </a:rPr>
              <a:t>trim</a:t>
            </a:r>
            <a:r>
              <a:t>()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lifecycleScope.launch {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dao.insert(Task(</a:t>
            </a:r>
            <a:r>
              <a:rPr>
                <a:solidFill>
                  <a:srgbClr val="58C3D7"/>
                </a:solidFill>
              </a:rPr>
              <a:t>title = </a:t>
            </a:r>
            <a:r>
              <a:rPr i="1">
                <a:solidFill>
                  <a:srgbClr val="C87EBB"/>
                </a:solidFill>
              </a:rPr>
              <a:t>texto</a:t>
            </a:r>
            <a:r>
              <a:t>))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2. DAO: o Room grava a tarefa no SQLite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2AD5E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@Insert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F8E6B"/>
                </a:solidFill>
              </a:rPr>
              <a:t>suspend fun </a:t>
            </a:r>
            <a:r>
              <a:rPr>
                <a:solidFill>
                  <a:srgbClr val="59ABF8"/>
                </a:solidFill>
              </a:rPr>
              <a:t>insert</a:t>
            </a:r>
            <a:r>
              <a:t>(task: Task): Long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7B7F8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// 3. Flow: o ecrã recebe a nova lista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dao.observeAll().collect { lista -&gt;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mostrarTarefas(lista)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BDBFC4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</p:txBody>
      </p:sp>
      <p:sp>
        <p:nvSpPr>
          <p:cNvPr id="207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Repository Pattern</a:t>
            </a:r>
          </a:p>
        </p:txBody>
      </p:sp>
      <p:sp>
        <p:nvSpPr>
          <p:cNvPr id="210" name="ecrã caixa"/>
          <p:cNvSpPr/>
          <p:nvPr/>
        </p:nvSpPr>
        <p:spPr>
          <a:xfrm>
            <a:off x="548640" y="2377438"/>
            <a:ext cx="2743201" cy="1371604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ecrã texto"/>
          <p:cNvSpPr txBox="1"/>
          <p:nvPr/>
        </p:nvSpPr>
        <p:spPr>
          <a:xfrm>
            <a:off x="731516" y="2815588"/>
            <a:ext cx="237744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Ecrã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MainActivity</a:t>
            </a:r>
          </a:p>
        </p:txBody>
      </p:sp>
      <p:sp>
        <p:nvSpPr>
          <p:cNvPr id="212" name="repository caixa"/>
          <p:cNvSpPr/>
          <p:nvPr/>
        </p:nvSpPr>
        <p:spPr>
          <a:xfrm>
            <a:off x="4206240" y="2377438"/>
            <a:ext cx="3108967" cy="1371604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repository texto"/>
          <p:cNvSpPr txBox="1"/>
          <p:nvPr/>
        </p:nvSpPr>
        <p:spPr>
          <a:xfrm>
            <a:off x="4389120" y="2938869"/>
            <a:ext cx="274320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Repository</a:t>
            </a:r>
          </a:p>
        </p:txBody>
      </p:sp>
      <p:sp>
        <p:nvSpPr>
          <p:cNvPr id="214" name="seta ecrã repository"/>
          <p:cNvSpPr/>
          <p:nvPr/>
        </p:nvSpPr>
        <p:spPr>
          <a:xfrm>
            <a:off x="3337558" y="3063238"/>
            <a:ext cx="822967" cy="914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Room caixa"/>
          <p:cNvSpPr/>
          <p:nvPr/>
        </p:nvSpPr>
        <p:spPr>
          <a:xfrm>
            <a:off x="8503918" y="1463038"/>
            <a:ext cx="3108967" cy="1051562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" name="Room texto"/>
          <p:cNvSpPr txBox="1"/>
          <p:nvPr/>
        </p:nvSpPr>
        <p:spPr>
          <a:xfrm>
            <a:off x="8686800" y="1731840"/>
            <a:ext cx="2743200" cy="513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latin typeface="+mj-lt"/>
                <a:ea typeface="+mj-ea"/>
                <a:cs typeface="+mj-cs"/>
                <a:sym typeface="Calibri"/>
              </a:defRPr>
            </a:pPr>
            <a:r>
              <a:t>Room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Guarda tarefas</a:t>
            </a:r>
          </a:p>
        </p:txBody>
      </p:sp>
      <p:sp>
        <p:nvSpPr>
          <p:cNvPr id="217" name="seta Room"/>
          <p:cNvSpPr/>
          <p:nvPr/>
        </p:nvSpPr>
        <p:spPr>
          <a:xfrm flipV="1">
            <a:off x="7360917" y="1988820"/>
            <a:ext cx="1097287" cy="1074427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DataStore caixa"/>
          <p:cNvSpPr/>
          <p:nvPr/>
        </p:nvSpPr>
        <p:spPr>
          <a:xfrm>
            <a:off x="8503918" y="2788920"/>
            <a:ext cx="3108967" cy="1051567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" name="DataStore texto"/>
          <p:cNvSpPr txBox="1"/>
          <p:nvPr/>
        </p:nvSpPr>
        <p:spPr>
          <a:xfrm>
            <a:off x="8686800" y="3057719"/>
            <a:ext cx="2743200" cy="513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latin typeface="+mj-lt"/>
                <a:ea typeface="+mj-ea"/>
                <a:cs typeface="+mj-cs"/>
                <a:sym typeface="Calibri"/>
              </a:defRPr>
            </a:pPr>
            <a:r>
              <a:t>DataStore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Guarda as preferências</a:t>
            </a:r>
          </a:p>
        </p:txBody>
      </p:sp>
      <p:sp>
        <p:nvSpPr>
          <p:cNvPr id="220" name="seta DataStore"/>
          <p:cNvSpPr/>
          <p:nvPr/>
        </p:nvSpPr>
        <p:spPr>
          <a:xfrm>
            <a:off x="7360917" y="3063238"/>
            <a:ext cx="1097287" cy="251460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Ficheiro caixa"/>
          <p:cNvSpPr/>
          <p:nvPr/>
        </p:nvSpPr>
        <p:spPr>
          <a:xfrm>
            <a:off x="8503918" y="4114800"/>
            <a:ext cx="3108967" cy="1051562"/>
          </a:xfrm>
          <a:prstGeom prst="roundRect">
            <a:avLst>
              <a:gd name="adj" fmla="val 10435"/>
            </a:avLst>
          </a:prstGeom>
          <a:solidFill>
            <a:srgbClr val="EEF4F1"/>
          </a:solidFill>
          <a:ln w="12700">
            <a:solidFill>
              <a:srgbClr val="EEF4F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" name="Ficheiro texto"/>
          <p:cNvSpPr txBox="1"/>
          <p:nvPr/>
        </p:nvSpPr>
        <p:spPr>
          <a:xfrm>
            <a:off x="8686800" y="4383600"/>
            <a:ext cx="2743200" cy="513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latin typeface="+mj-lt"/>
                <a:ea typeface="+mj-ea"/>
                <a:cs typeface="+mj-cs"/>
                <a:sym typeface="Calibri"/>
              </a:defRPr>
            </a:pPr>
            <a:r>
              <a:t>Ficheiros Internos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Guarda o backup</a:t>
            </a:r>
          </a:p>
        </p:txBody>
      </p:sp>
      <p:sp>
        <p:nvSpPr>
          <p:cNvPr id="223" name="seta Ficheiro"/>
          <p:cNvSpPr/>
          <p:nvPr/>
        </p:nvSpPr>
        <p:spPr>
          <a:xfrm>
            <a:off x="7360917" y="3063237"/>
            <a:ext cx="1097288" cy="1577348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" name="frase-chave"/>
          <p:cNvSpPr txBox="1"/>
          <p:nvPr/>
        </p:nvSpPr>
        <p:spPr>
          <a:xfrm>
            <a:off x="548638" y="5590625"/>
            <a:ext cx="1106424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 houver um servidor, só o Repository muda</a:t>
            </a:r>
          </a:p>
        </p:txBody>
      </p:sp>
      <p:sp>
        <p:nvSpPr>
          <p:cNvPr id="225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Estratégia offline-first</a:t>
            </a:r>
          </a:p>
        </p:txBody>
      </p:sp>
      <p:sp>
        <p:nvSpPr>
          <p:cNvPr id="228" name="Text 1"/>
          <p:cNvSpPr txBox="1"/>
          <p:nvPr>
            <p:ph type="body" idx="1"/>
          </p:nvPr>
        </p:nvSpPr>
        <p:spPr>
          <a:xfrm>
            <a:off x="548638" y="1371594"/>
            <a:ext cx="11064245" cy="46634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  <a:defRPr b="1"/>
            </a:pPr>
            <a:r>
              <a:t>1. A base de dados local é a fonte de verdade</a:t>
            </a:r>
            <a:r>
              <a:rPr b="0"/>
              <a:t>: A app mostra sempre o que está guardado no Room, no próprio telemóvel, e nunca depende de um servidor para mostrar as tarefas.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/>
            </a:pPr>
            <a:r>
              <a:t>2. Escrever localmente primeiro</a:t>
            </a:r>
            <a:r>
              <a:rPr b="0"/>
              <a:t>: Quando é criada, editada ou apagada uma tarefa, fica logo guardada no Room, mesmo sem internet.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/>
            </a:pPr>
            <a:r>
              <a:t>3. Sincronizar em segundo plano (WorkManager)</a:t>
            </a:r>
            <a:r>
              <a:rPr b="0"/>
              <a:t>: Quando houver ligação, a app envia as alterações para o servidor sem o utilizador ter de fazer nada.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/>
            </a:pPr>
            <a:r>
              <a:t>4. Conflitos: last-write-wins e alternativas</a:t>
            </a:r>
            <a:r>
              <a:rPr b="0"/>
              <a:t>: Se a mesma tarefa for alterada em dois dispositivos, ganha a alteração mais recente. Também se pode comparar versões, juntar as duas alterações ou perguntar ao utilizador.</a:t>
            </a:r>
            <a:endParaRPr b="0"/>
          </a:p>
          <a:p>
            <a:pPr marL="342900" indent="-342900">
              <a:buSzPct val="100000"/>
              <a:buFont typeface="Arial"/>
              <a:buChar char="•"/>
              <a:defRPr b="1"/>
            </a:pPr>
            <a:r>
              <a:t>5. O que a nossa app implementa</a:t>
            </a:r>
            <a:r>
              <a:rPr b="0"/>
              <a:t>: Guarda as tarefas no Room, lembra-se das preferências no DataStore e permite exportar um backup em JSON. A sincronização com servidor ainda não está feita, mas a app já está preparada para isso.</a:t>
            </a:r>
          </a:p>
        </p:txBody>
      </p:sp>
      <p:sp>
        <p:nvSpPr>
          <p:cNvPr id="229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 txBox="1"/>
          <p:nvPr>
            <p:ph type="title"/>
          </p:nvPr>
        </p:nvSpPr>
        <p:spPr>
          <a:xfrm>
            <a:off x="4487885" y="3040375"/>
            <a:ext cx="3216229" cy="777250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Demonstração</a:t>
            </a:r>
          </a:p>
        </p:txBody>
      </p:sp>
      <p:sp>
        <p:nvSpPr>
          <p:cNvPr id="232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Vantagens e limitações</a:t>
            </a:r>
          </a:p>
        </p:txBody>
      </p:sp>
      <p:sp>
        <p:nvSpPr>
          <p:cNvPr id="235" name="Text 3"/>
          <p:cNvSpPr txBox="1"/>
          <p:nvPr>
            <p:ph type="body" sz="quarter" idx="1"/>
          </p:nvPr>
        </p:nvSpPr>
        <p:spPr>
          <a:xfrm>
            <a:off x="822955" y="1600199"/>
            <a:ext cx="4892052" cy="502923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Vantagens</a:t>
            </a:r>
          </a:p>
        </p:txBody>
      </p:sp>
      <p:sp>
        <p:nvSpPr>
          <p:cNvPr id="236" name="Text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A aplicação funciona sem ligação à Internet, porque os dados ficam guardados no dispositivo.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O acesso aos dados é imediato, sem depender da latência da rede.</a:t>
            </a:r>
          </a:p>
        </p:txBody>
      </p:sp>
      <p:sp>
        <p:nvSpPr>
          <p:cNvPr id="237" name="Text 3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Limitações</a:t>
            </a:r>
          </a:p>
        </p:txBody>
      </p:sp>
      <p:sp>
        <p:nvSpPr>
          <p:cNvPr id="238" name="Text 3"/>
          <p:cNvSpPr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Os dados existem apenas no dispositivo e são apagados ao desinstalar a aplicação. Sem sincronização, perdem-se ao trocar de telemóvel.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Numa base de dados local, qualquer alteração ao schema obriga a criar uma migração para preservar os dados já existentes.</a:t>
            </a:r>
          </a:p>
        </p:txBody>
      </p:sp>
      <p:sp>
        <p:nvSpPr>
          <p:cNvPr id="239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Erros frequentes</a:t>
            </a:r>
          </a:p>
        </p:txBody>
      </p:sp>
      <p:sp>
        <p:nvSpPr>
          <p:cNvPr id="242" name="Text 1"/>
          <p:cNvSpPr txBox="1"/>
          <p:nvPr>
            <p:ph type="body" idx="1"/>
          </p:nvPr>
        </p:nvSpPr>
        <p:spPr>
          <a:xfrm>
            <a:off x="548638" y="1371594"/>
            <a:ext cx="11064245" cy="46634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Aceder à base de dados na main thread: o Room lança uma exceção, porque a operação bloquearia a interface.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Criar várias instâncias da base de dados: desperdiçaria recursos e pode originar dados inconsistentes.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Guardar dados importantes no cacheDir: o sistema pode apagá-los quando o dispositivo tem pouco espaço.</a:t>
            </a:r>
          </a:p>
        </p:txBody>
      </p:sp>
      <p:sp>
        <p:nvSpPr>
          <p:cNvPr id="243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Questões para discussão</a:t>
            </a:r>
          </a:p>
        </p:txBody>
      </p:sp>
      <p:sp>
        <p:nvSpPr>
          <p:cNvPr id="246" name="Text 0"/>
          <p:cNvSpPr txBox="1"/>
          <p:nvPr>
            <p:ph type="body" idx="1"/>
          </p:nvPr>
        </p:nvSpPr>
        <p:spPr>
          <a:xfrm>
            <a:off x="548638" y="1371594"/>
            <a:ext cx="11064245" cy="4663450"/>
          </a:xfrm>
          <a:prstGeom prst="rect">
            <a:avLst/>
          </a:prstGeom>
        </p:spPr>
        <p:txBody>
          <a:bodyPr/>
          <a:lstStyle/>
          <a:p>
            <a:pPr/>
            <a:r>
              <a:t>1.  Que mecanismo de armazenamento é o mais adequado para guardar uma definição simples, como ativar ou desativar as notificações?</a:t>
            </a:r>
          </a:p>
          <a:p>
            <a:pPr/>
            <a:r>
              <a:t>2. Quando é que se deve usar Room em vez do DataStore? </a:t>
            </a:r>
          </a:p>
        </p:txBody>
      </p:sp>
      <p:sp>
        <p:nvSpPr>
          <p:cNvPr id="247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>
            <p:ph type="title"/>
          </p:nvPr>
        </p:nvSpPr>
        <p:spPr>
          <a:xfrm>
            <a:off x="548638" y="320034"/>
            <a:ext cx="11064245" cy="77725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Referências e repositório</a:t>
            </a:r>
          </a:p>
        </p:txBody>
      </p:sp>
      <p:sp>
        <p:nvSpPr>
          <p:cNvPr id="250" name="Text 1"/>
          <p:cNvSpPr txBox="1"/>
          <p:nvPr>
            <p:ph type="body" idx="1"/>
          </p:nvPr>
        </p:nvSpPr>
        <p:spPr>
          <a:xfrm>
            <a:off x="548638" y="1371594"/>
            <a:ext cx="11064245" cy="4663450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</a:pPr>
            <a:r>
              <a:t>Repositório do GitHub: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https://github.com/jvasco19/Projeto-PDM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3" invalidUrl="" action="" tgtFrame="" tooltip="" history="1" highlightClick="0" endSnd="0"/>
              </a:rPr>
              <a:t>Android Developers: Arquitetura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4" invalidUrl="" action="" tgtFrame="" tooltip="" history="1" highlightClick="0" endSnd="0"/>
              </a:rPr>
              <a:t>Android Developers: SharedPreferences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5" invalidUrl="" action="" tgtFrame="" tooltip="" history="1" highlightClick="0" endSnd="0"/>
              </a:rPr>
              <a:t>Android Developers: DataStore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6" invalidUrl="" action="" tgtFrame="" tooltip="" history="1" highlightClick="0" endSnd="0"/>
              </a:rPr>
              <a:t>Android Developers: Ficheiros Internos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7" invalidUrl="" action="" tgtFrame="" tooltip="" history="1" highlightClick="0" endSnd="0"/>
              </a:rPr>
              <a:t>Android Developers: SQLite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8" invalidUrl="" action="" tgtFrame="" tooltip="" history="1" highlightClick="0" endSnd="0"/>
              </a:rPr>
              <a:t>Android Developers: Room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9" invalidUrl="" action="" tgtFrame="" tooltip="" history="1" highlightClick="0" endSnd="0"/>
              </a:rPr>
              <a:t>Android Developers: Migrações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10" invalidUrl="" action="" tgtFrame="" tooltip="" history="1" highlightClick="0" endSnd="0"/>
              </a:rPr>
              <a:t>Android Developers: Repository e offline-first</a:t>
            </a:r>
          </a:p>
          <a:p>
            <a:pPr marL="342900" indent="-342900">
              <a:buSzPct val="100000"/>
              <a:buFont typeface="Arial"/>
              <a:buChar char="•"/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rPr>
                <a:hlinkClick r:id="rId11" invalidUrl="" action="" tgtFrame="" tooltip="" history="1" highlightClick="0" endSnd="0"/>
              </a:rPr>
              <a:t>Android Developers: Coroutines e Flow</a:t>
            </a:r>
          </a:p>
        </p:txBody>
      </p:sp>
      <p:sp>
        <p:nvSpPr>
          <p:cNvPr id="251" name="Slide Number Placeholder 0"/>
          <p:cNvSpPr txBox="1"/>
          <p:nvPr>
            <p:ph type="sldNum" sz="quarter" idx="4294967295"/>
          </p:nvPr>
        </p:nvSpPr>
        <p:spPr>
          <a:xfrm>
            <a:off x="11380003" y="6400798"/>
            <a:ext cx="232873" cy="2285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rupo 7 Template">
  <a:themeElements>
    <a:clrScheme name="Grupo 7 Template">
      <a:dk1>
        <a:srgbClr val="17212B"/>
      </a:dk1>
      <a:lt1>
        <a:srgbClr val="1E293B"/>
      </a:lt1>
      <a:dk2>
        <a:srgbClr val="A7A7A7"/>
      </a:dk2>
      <a:lt2>
        <a:srgbClr val="535353"/>
      </a:lt2>
      <a:accent1>
        <a:srgbClr val="3DDC84"/>
      </a:accent1>
      <a:accent2>
        <a:srgbClr val="0F766E"/>
      </a:accent2>
      <a:accent3>
        <a:srgbClr val="7F52FF"/>
      </a:accent3>
      <a:accent4>
        <a:srgbClr val="E76F00"/>
      </a:accent4>
      <a:accent5>
        <a:srgbClr val="64748B"/>
      </a:accent5>
      <a:accent6>
        <a:srgbClr val="2563EB"/>
      </a:accent6>
      <a:hlink>
        <a:srgbClr val="0000FF"/>
      </a:hlink>
      <a:folHlink>
        <a:srgbClr val="FF00FF"/>
      </a:folHlink>
    </a:clrScheme>
    <a:fontScheme name="Grupo 7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Grupo 7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E293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7212B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7212B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rupo 7 Template">
  <a:themeElements>
    <a:clrScheme name="Grupo 7 Template">
      <a:dk1>
        <a:srgbClr val="17212B"/>
      </a:dk1>
      <a:lt1>
        <a:srgbClr val="2B2014"/>
      </a:lt1>
      <a:dk2>
        <a:srgbClr val="A7A7A7"/>
      </a:dk2>
      <a:lt2>
        <a:srgbClr val="535353"/>
      </a:lt2>
      <a:accent1>
        <a:srgbClr val="3DDC84"/>
      </a:accent1>
      <a:accent2>
        <a:srgbClr val="0F766E"/>
      </a:accent2>
      <a:accent3>
        <a:srgbClr val="7F52FF"/>
      </a:accent3>
      <a:accent4>
        <a:srgbClr val="E76F00"/>
      </a:accent4>
      <a:accent5>
        <a:srgbClr val="64748B"/>
      </a:accent5>
      <a:accent6>
        <a:srgbClr val="2563EB"/>
      </a:accent6>
      <a:hlink>
        <a:srgbClr val="0000FF"/>
      </a:hlink>
      <a:folHlink>
        <a:srgbClr val="FF00FF"/>
      </a:folHlink>
    </a:clrScheme>
    <a:fontScheme name="Grupo 7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Grupo 7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E293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7212B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7212B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